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270" r:id="rId3"/>
    <p:sldId id="271" r:id="rId4"/>
    <p:sldId id="272" r:id="rId5"/>
    <p:sldId id="365" r:id="rId6"/>
    <p:sldId id="366" r:id="rId7"/>
    <p:sldId id="367" r:id="rId8"/>
    <p:sldId id="380" r:id="rId9"/>
    <p:sldId id="368" r:id="rId10"/>
    <p:sldId id="369" r:id="rId11"/>
    <p:sldId id="389" r:id="rId12"/>
    <p:sldId id="370" r:id="rId13"/>
    <p:sldId id="371" r:id="rId14"/>
    <p:sldId id="388" r:id="rId15"/>
    <p:sldId id="372" r:id="rId16"/>
    <p:sldId id="373" r:id="rId17"/>
    <p:sldId id="374" r:id="rId18"/>
    <p:sldId id="379" r:id="rId19"/>
    <p:sldId id="375" r:id="rId20"/>
    <p:sldId id="308" r:id="rId21"/>
    <p:sldId id="391" r:id="rId22"/>
    <p:sldId id="317" r:id="rId23"/>
    <p:sldId id="392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50063-9E62-02C8-13A7-A3304DF80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79B4CE-8323-15A2-AAB0-2509197D6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3801C6-4961-FFF4-1F44-D6CEFD0D9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55003C-DC86-842E-D341-30A3354EF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8E0055-F1A3-CD3D-4410-C4F9A45B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22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F528B-F31C-137E-90AD-E179FDA7F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F7E7B8-CE05-68DD-745A-341BBF71B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F9B68B-5E05-C814-EF6C-DB66F377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3CDB4F-0A07-231A-6CCB-3246295F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D11495-D149-F1DC-BB45-A7CF4190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7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1B705-A0B9-4276-1879-8B88ADA7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7DF09D-07EC-E68F-3880-050B87142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5873BE-4CA4-73A2-9A6D-96491BBD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67DEB4-F658-521C-BFBA-DFBE04A2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B4576C-BFAC-978D-0803-1C704BAA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52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A5B89-5F1E-04FF-4505-E4F4F0E5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B50892-B427-8CEF-8581-7F9249F2A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49F091-01B7-CA2E-74EE-DC628E144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7BF520-EB10-3F4A-F7B7-1ACE8E70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C088DA-A27E-E3D2-75E8-861C2C51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AF2F2F-5D01-F236-F015-B53845C5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0CE4C-AE8B-6F4A-442E-F39E006FC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7ACD59-00CF-E220-5600-21FA85872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0F85C9-463C-F6AE-98BD-F478B18CB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7660D2-DE4E-36AA-9DEC-929DAD150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2EBA19-2A82-0338-75D0-B8970BE3A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F7B4A49-E7A0-CE1F-2915-D8D15672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71952A5-22A4-188D-C1E6-19246039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BC6016-7213-42D1-8F7E-B8B4B574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72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B465A-446D-BF46-8F0F-F07B4AC0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A0CB7A-4407-EE21-2DC3-7BAC41FA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D30463-6C4A-F9E7-349B-96427A48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009517-DDD1-FD3D-7E50-B70921F7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6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4D701D-69D1-F94A-067E-6A73AAB4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A7802C-E3F7-89D2-9E21-65E9BFF0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875ECF-98F8-58C4-E6D9-7DBCB24F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68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0E60A-6CC9-EB3E-980B-01C682C5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28EFC8-E3BA-3D87-2049-1466CEFAA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AA71A-1023-E863-D3C4-64FD7A49C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D0F12D-6FD3-E806-D9D4-DED61A7C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77C503-FF8E-C4A3-7C20-C1A87A18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B30CEC-06FB-E837-9237-8697D83B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58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6E06B-80E8-E65F-192E-485F1C8B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492946-DE04-8306-7A7C-A1F5170E3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1CD2F0-522E-7E70-A576-2DBF1155C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F7B72D-37DA-EC70-617F-934929C8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944F7E-6967-9E57-ABD7-31186319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CD2F1A-5B7B-5881-4BED-ACC10596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60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236FB-4FFA-4C3E-89C9-44C02199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83A368-29DE-61E7-3C45-C16CEB86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7B7B86-2E78-BC72-8ADC-64764793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1214AE-E7D7-E730-C7EC-28C69072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AE5CC7-F985-6D9C-DBAB-6A60B576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6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B8838D-E6F6-C6EB-180C-B3F0DD25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440388-B9EB-0B45-D8DA-55346A3A4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AA141D-750C-3319-BCAF-65D83AB1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9EF984-6DDE-27DC-9474-9578B0BC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2B474B-2A25-7D5F-3B02-41E037C0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2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E51974E-FA5E-2953-F330-668EB5CC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CDF313-907D-9F88-92E1-42D094D27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C8C27F-DC06-1C02-4203-55C90E483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FB497-04BA-4596-84FF-4193B35821DF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5EF9A0-320A-8BA4-D594-40C75A843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52CD0D-B6C3-1EF7-2F0E-5831C7445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E4BE0-4B6F-477C-91D3-BC5A8526E3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9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.tutsplus.com/pt/tutorials/24-javascript-best-practices-for-beginners--net-5399" TargetMode="External"/><Relationship Id="rId3" Type="http://schemas.openxmlformats.org/officeDocument/2006/relationships/hyperlink" Target="https://developer.mozilla.org/pt-BR/docs/Web/JavaScript" TargetMode="External"/><Relationship Id="rId7" Type="http://schemas.openxmlformats.org/officeDocument/2006/relationships/hyperlink" Target="https://www.caelum.com.br/apostila-html-css-javascript/javascript-e-interatividade-na-web/" TargetMode="External"/><Relationship Id="rId2" Type="http://schemas.openxmlformats.org/officeDocument/2006/relationships/hyperlink" Target="https://braziljs.github.io/eloquente-javascrip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cketseat.com.br/starter" TargetMode="External"/><Relationship Id="rId5" Type="http://schemas.openxmlformats.org/officeDocument/2006/relationships/hyperlink" Target="https://pt.khanacademy.org/computing/computer-programming/html-css-js" TargetMode="External"/><Relationship Id="rId4" Type="http://schemas.openxmlformats.org/officeDocument/2006/relationships/hyperlink" Target="https://www.w3schools.com/j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A0BAA-8C03-E652-7ACA-8917F3C57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9638" y="2587772"/>
            <a:ext cx="9132725" cy="922191"/>
          </a:xfrm>
        </p:spPr>
        <p:txBody>
          <a:bodyPr/>
          <a:lstStyle/>
          <a:p>
            <a:r>
              <a:rPr lang="pt-BR" dirty="0"/>
              <a:t>Javascript Introdução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B507C-F3FE-EB61-923F-7F88CFD73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/>
              <a:t> THIAGO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310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738" y="1056379"/>
            <a:ext cx="14003512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dirty="0"/>
              <a:t>Forma</a:t>
            </a:r>
            <a:r>
              <a:rPr spc="-64" dirty="0"/>
              <a:t> </a:t>
            </a:r>
            <a:r>
              <a:rPr dirty="0"/>
              <a:t>tradicional</a:t>
            </a:r>
            <a:r>
              <a:rPr spc="-59" dirty="0"/>
              <a:t> </a:t>
            </a:r>
            <a:r>
              <a:rPr dirty="0"/>
              <a:t>de</a:t>
            </a:r>
            <a:r>
              <a:rPr spc="-59" dirty="0"/>
              <a:t> </a:t>
            </a:r>
            <a:r>
              <a:rPr spc="49" dirty="0"/>
              <a:t>iterar</a:t>
            </a:r>
            <a:r>
              <a:rPr spc="-49" dirty="0"/>
              <a:t> </a:t>
            </a:r>
            <a:r>
              <a:rPr dirty="0"/>
              <a:t>um</a:t>
            </a:r>
            <a:r>
              <a:rPr spc="-73" dirty="0"/>
              <a:t> </a:t>
            </a:r>
            <a:r>
              <a:rPr spc="123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84067" y="1906879"/>
            <a:ext cx="8167237" cy="3289972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1526" rIns="0" bIns="0" rtlCol="0">
            <a:spAutoFit/>
          </a:bodyPr>
          <a:lstStyle/>
          <a:p>
            <a:r>
              <a:rPr lang="pt-BR" sz="2663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663" dirty="0">
                <a:solidFill>
                  <a:srgbClr val="CE9178"/>
                </a:solidFill>
                <a:latin typeface="Consolas" panose="020B0609020204030204" pitchFamily="49" charset="0"/>
              </a:rPr>
              <a:t>'abacaxi'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663" dirty="0">
                <a:solidFill>
                  <a:srgbClr val="CE9178"/>
                </a:solidFill>
                <a:latin typeface="Consolas" panose="020B0609020204030204" pitchFamily="49" charset="0"/>
              </a:rPr>
              <a:t>'maça'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663" dirty="0">
                <a:solidFill>
                  <a:srgbClr val="CE9178"/>
                </a:solidFill>
                <a:latin typeface="Consolas" panose="020B0609020204030204" pitchFamily="49" charset="0"/>
              </a:rPr>
              <a:t>'uva’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]; </a:t>
            </a:r>
          </a:p>
          <a:p>
            <a:endParaRPr lang="pt-BR" sz="2663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663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663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663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663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663" dirty="0">
                <a:solidFill>
                  <a:srgbClr val="9CDCFE"/>
                </a:solidFill>
                <a:latin typeface="Consolas" panose="020B0609020204030204" pitchFamily="49" charset="0"/>
              </a:rPr>
              <a:t>frutas[i]</a:t>
            </a:r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663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663" dirty="0">
                <a:solidFill>
                  <a:srgbClr val="6A9955"/>
                </a:solidFill>
                <a:latin typeface="Consolas" panose="020B0609020204030204" pitchFamily="49" charset="0"/>
              </a:rPr>
              <a:t>// corpo da iteração</a:t>
            </a:r>
            <a:endParaRPr lang="pt-BR" sz="2663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663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2663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663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2663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93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7698" y="426803"/>
            <a:ext cx="8623863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91" dirty="0"/>
              <a:t>forEach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113" y="2104187"/>
            <a:ext cx="4806318" cy="13023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wrap="square" lIns="0" tIns="11526" rIns="0" bIns="0" rtlCol="0">
            <a:spAutoFit/>
          </a:bodyPr>
          <a:lstStyle/>
          <a:p>
            <a:r>
              <a:rPr lang="pt-BR" sz="13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1398" dirty="0">
                <a:solidFill>
                  <a:srgbClr val="CE9178"/>
                </a:solidFill>
                <a:latin typeface="Consolas" panose="020B0609020204030204" pitchFamily="49" charset="0"/>
              </a:rPr>
              <a:t>'abacaxi'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398" dirty="0">
                <a:solidFill>
                  <a:srgbClr val="CE9178"/>
                </a:solidFill>
                <a:latin typeface="Consolas" panose="020B0609020204030204" pitchFamily="49" charset="0"/>
              </a:rPr>
              <a:t>'maça'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398" dirty="0">
                <a:solidFill>
                  <a:srgbClr val="CE9178"/>
                </a:solidFill>
                <a:latin typeface="Consolas" panose="020B0609020204030204" pitchFamily="49" charset="0"/>
              </a:rPr>
              <a:t>'uva’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]; </a:t>
            </a:r>
          </a:p>
          <a:p>
            <a:endParaRPr lang="pt-BR" sz="1398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1398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3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1398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398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398" dirty="0">
                <a:solidFill>
                  <a:srgbClr val="9CDCFE"/>
                </a:solidFill>
                <a:latin typeface="Consolas" panose="020B0609020204030204" pitchFamily="49" charset="0"/>
              </a:rPr>
              <a:t>frutas[i]</a:t>
            </a:r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13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398" dirty="0">
                <a:solidFill>
                  <a:srgbClr val="6A9955"/>
                </a:solidFill>
                <a:latin typeface="Consolas" panose="020B0609020204030204" pitchFamily="49" charset="0"/>
              </a:rPr>
              <a:t>// corpo da iteração</a:t>
            </a:r>
            <a:endParaRPr lang="pt-BR" sz="13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398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398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2588" y="3678185"/>
            <a:ext cx="4603989" cy="1730507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1526" rIns="0" bIns="0" rtlCol="0">
            <a:spAutoFit/>
          </a:bodyPr>
          <a:lstStyle/>
          <a:p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1598" dirty="0">
                <a:solidFill>
                  <a:srgbClr val="CE9178"/>
                </a:solidFill>
                <a:latin typeface="Consolas" panose="020B0609020204030204" pitchFamily="49" charset="0"/>
              </a:rPr>
              <a:t>'abacaxi'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CE9178"/>
                </a:solidFill>
                <a:latin typeface="Consolas" panose="020B0609020204030204" pitchFamily="49" charset="0"/>
              </a:rPr>
              <a:t>'maça'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CE9178"/>
                </a:solidFill>
                <a:latin typeface="Consolas" panose="020B0609020204030204" pitchFamily="49" charset="0"/>
              </a:rPr>
              <a:t>'uva'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]; 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DCDCAA"/>
                </a:solidFill>
                <a:latin typeface="Consolas" panose="020B0609020204030204" pitchFamily="49" charset="0"/>
              </a:rPr>
              <a:t>forEach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fruta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fruta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6A9955"/>
                </a:solidFill>
                <a:latin typeface="Consolas" panose="020B0609020204030204" pitchFamily="49" charset="0"/>
              </a:rPr>
              <a:t>// corpo da iteração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1526">
              <a:spcBef>
                <a:spcPts val="286"/>
              </a:spcBef>
            </a:pPr>
            <a:endParaRPr lang="pt-BR" sz="1465" dirty="0">
              <a:latin typeface="Courier New"/>
              <a:cs typeface="Courier New"/>
            </a:endParaRPr>
          </a:p>
          <a:p>
            <a:pPr>
              <a:spcBef>
                <a:spcPts val="41"/>
              </a:spcBef>
            </a:pPr>
            <a:endParaRPr lang="pt-BR" sz="1465" dirty="0">
              <a:latin typeface="Courier New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F691C-243C-B669-3600-0E0DEACA70B2}"/>
              </a:ext>
            </a:extLst>
          </p:cNvPr>
          <p:cNvSpPr txBox="1"/>
          <p:nvPr/>
        </p:nvSpPr>
        <p:spPr>
          <a:xfrm>
            <a:off x="7166568" y="1810870"/>
            <a:ext cx="4464888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>
                <a:solidFill>
                  <a:srgbClr val="404040"/>
                </a:solidFill>
                <a:latin typeface="DeepSeek-CJK-patch"/>
              </a:rPr>
              <a:t>O elemento atual sendo processado no array</a:t>
            </a:r>
            <a:endParaRPr lang="pt-BR" sz="2397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958159-33FD-1A5D-91C8-6C3578699018}"/>
              </a:ext>
            </a:extLst>
          </p:cNvPr>
          <p:cNvCxnSpPr>
            <a:cxnSpLocks/>
          </p:cNvCxnSpPr>
          <p:nvPr/>
        </p:nvCxnSpPr>
        <p:spPr>
          <a:xfrm flipV="1">
            <a:off x="4592694" y="2410849"/>
            <a:ext cx="2573874" cy="1560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78E33-26BD-2370-34F1-14EF1D262AF2}"/>
              </a:ext>
            </a:extLst>
          </p:cNvPr>
          <p:cNvSpPr txBox="1"/>
          <p:nvPr/>
        </p:nvSpPr>
        <p:spPr>
          <a:xfrm>
            <a:off x="6454756" y="3706007"/>
            <a:ext cx="5513038" cy="15267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'abacaxi'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'maça'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'uva'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frutas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DCDCAA"/>
                </a:solidFill>
                <a:latin typeface="Consolas" panose="020B0609020204030204" pitchFamily="49" charset="0"/>
              </a:rPr>
              <a:t>forEach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fruta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fruta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1864" dirty="0">
                <a:solidFill>
                  <a:srgbClr val="6A9955"/>
                </a:solidFill>
                <a:latin typeface="Consolas" panose="020B0609020204030204" pitchFamily="49" charset="0"/>
              </a:rPr>
              <a:t>// corpo da iteração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235F0-C090-FC2D-BC17-E60358718088}"/>
              </a:ext>
            </a:extLst>
          </p:cNvPr>
          <p:cNvSpPr txBox="1"/>
          <p:nvPr/>
        </p:nvSpPr>
        <p:spPr>
          <a:xfrm>
            <a:off x="7548035" y="2955389"/>
            <a:ext cx="2902654" cy="461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397" dirty="0"/>
              <a:t>Com Arrow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2A732-7DF2-5BCC-0406-D0721AFB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87" y="5404415"/>
            <a:ext cx="4464888" cy="1288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0A85B-F99A-1210-1816-A5C271E89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756" y="5330571"/>
            <a:ext cx="5075281" cy="146455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85AD04C-DF58-49A4-940C-04D717C73760}"/>
              </a:ext>
            </a:extLst>
          </p:cNvPr>
          <p:cNvSpPr/>
          <p:nvPr/>
        </p:nvSpPr>
        <p:spPr>
          <a:xfrm>
            <a:off x="1352427" y="1005921"/>
            <a:ext cx="9208460" cy="83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397" b="1" dirty="0">
                <a:solidFill>
                  <a:srgbClr val="FF0000"/>
                </a:solidFill>
              </a:rPr>
              <a:t>Percorrer todos os elementos de uma coleção</a:t>
            </a:r>
            <a:r>
              <a:rPr lang="pt-BR" sz="2397" dirty="0"/>
              <a:t>, como um </a:t>
            </a:r>
            <a:r>
              <a:rPr lang="pt-BR" sz="2397" b="1" dirty="0"/>
              <a:t>array</a:t>
            </a:r>
            <a:r>
              <a:rPr lang="pt-BR" sz="2397" dirty="0"/>
              <a:t>, </a:t>
            </a:r>
            <a:r>
              <a:rPr lang="pt-BR" sz="2397" b="1" dirty="0"/>
              <a:t>lista</a:t>
            </a:r>
            <a:r>
              <a:rPr lang="pt-BR" sz="2397" dirty="0"/>
              <a:t> ou </a:t>
            </a:r>
            <a:r>
              <a:rPr lang="pt-BR" sz="2397" b="1" dirty="0"/>
              <a:t>mapa</a:t>
            </a:r>
            <a:r>
              <a:rPr lang="pt-BR" sz="2397" dirty="0"/>
              <a:t>, e </a:t>
            </a:r>
            <a:r>
              <a:rPr lang="pt-BR" sz="2397" b="1" dirty="0">
                <a:solidFill>
                  <a:srgbClr val="FF0000"/>
                </a:solidFill>
              </a:rPr>
              <a:t>executar uma função para cada elemento</a:t>
            </a:r>
            <a:endParaRPr lang="pt-BR" sz="2397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46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738" y="1056379"/>
            <a:ext cx="14003512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123" dirty="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9227" y="1906880"/>
            <a:ext cx="9283458" cy="1663202"/>
          </a:xfrm>
          <a:prstGeom prst="rect">
            <a:avLst/>
          </a:prstGeom>
        </p:spPr>
        <p:txBody>
          <a:bodyPr vert="horz" wrap="square" lIns="0" tIns="74920" rIns="0" bIns="0" rtlCol="0">
            <a:spAutoFit/>
          </a:bodyPr>
          <a:lstStyle/>
          <a:p>
            <a:pPr marL="187872" marR="4610" indent="-176923">
              <a:lnSpc>
                <a:spcPct val="79100"/>
              </a:lnSpc>
              <a:spcBef>
                <a:spcPts val="590"/>
              </a:spcBef>
              <a:buFont typeface="Arial MT"/>
              <a:buChar char="•"/>
              <a:tabLst>
                <a:tab pos="187872" algn="l"/>
              </a:tabLst>
            </a:pPr>
            <a:r>
              <a:rPr sz="2663" spc="113" dirty="0">
                <a:latin typeface="Tahoma"/>
                <a:cs typeface="Tahoma"/>
              </a:rPr>
              <a:t>Quando</a:t>
            </a:r>
            <a:r>
              <a:rPr sz="2663" spc="-91" dirty="0">
                <a:latin typeface="Tahoma"/>
                <a:cs typeface="Tahoma"/>
              </a:rPr>
              <a:t> </a:t>
            </a:r>
            <a:r>
              <a:rPr sz="2663" spc="49" dirty="0">
                <a:solidFill>
                  <a:srgbClr val="FF0000"/>
                </a:solidFill>
                <a:latin typeface="Tahoma"/>
                <a:cs typeface="Tahoma"/>
              </a:rPr>
              <a:t>precisarmos</a:t>
            </a:r>
            <a:r>
              <a:rPr sz="2663" spc="-91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dirty="0">
                <a:solidFill>
                  <a:srgbClr val="FF0000"/>
                </a:solidFill>
                <a:latin typeface="Tahoma"/>
                <a:cs typeface="Tahoma"/>
              </a:rPr>
              <a:t>iterar</a:t>
            </a:r>
            <a:r>
              <a:rPr sz="2663" spc="-96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spc="59" dirty="0">
                <a:solidFill>
                  <a:srgbClr val="FF0000"/>
                </a:solidFill>
                <a:latin typeface="Tahoma"/>
                <a:cs typeface="Tahoma"/>
              </a:rPr>
              <a:t>elementos</a:t>
            </a:r>
            <a:r>
              <a:rPr sz="2663" spc="-91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spc="127" dirty="0">
                <a:latin typeface="Tahoma"/>
                <a:cs typeface="Tahoma"/>
              </a:rPr>
              <a:t>de</a:t>
            </a:r>
            <a:r>
              <a:rPr sz="2663" spc="-91" dirty="0">
                <a:latin typeface="Tahoma"/>
                <a:cs typeface="Tahoma"/>
              </a:rPr>
              <a:t> </a:t>
            </a:r>
            <a:r>
              <a:rPr sz="2663" spc="68" dirty="0">
                <a:latin typeface="Tahoma"/>
                <a:cs typeface="Tahoma"/>
              </a:rPr>
              <a:t>um</a:t>
            </a:r>
            <a:r>
              <a:rPr sz="2663" spc="-91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array</a:t>
            </a:r>
            <a:r>
              <a:rPr sz="2663" spc="-100" dirty="0">
                <a:latin typeface="Tahoma"/>
                <a:cs typeface="Tahoma"/>
              </a:rPr>
              <a:t> </a:t>
            </a:r>
            <a:r>
              <a:rPr sz="2663" spc="59" dirty="0">
                <a:latin typeface="Tahoma"/>
                <a:cs typeface="Tahoma"/>
              </a:rPr>
              <a:t>fazendo</a:t>
            </a:r>
            <a:r>
              <a:rPr sz="2663" spc="-87" dirty="0">
                <a:latin typeface="Tahoma"/>
                <a:cs typeface="Tahoma"/>
              </a:rPr>
              <a:t> </a:t>
            </a:r>
            <a:r>
              <a:rPr sz="2663" spc="55" dirty="0">
                <a:latin typeface="Tahoma"/>
                <a:cs typeface="Tahoma"/>
              </a:rPr>
              <a:t>alguma </a:t>
            </a:r>
            <a:r>
              <a:rPr sz="2663" spc="59" dirty="0">
                <a:latin typeface="Tahoma"/>
                <a:cs typeface="Tahoma"/>
              </a:rPr>
              <a:t>modificação</a:t>
            </a:r>
            <a:endParaRPr sz="2663" dirty="0">
              <a:latin typeface="Tahoma"/>
              <a:cs typeface="Tahoma"/>
            </a:endParaRPr>
          </a:p>
          <a:p>
            <a:pPr marL="187872" indent="-176346">
              <a:spcBef>
                <a:spcPts val="349"/>
              </a:spcBef>
              <a:buFont typeface="Arial MT"/>
              <a:buChar char="•"/>
              <a:tabLst>
                <a:tab pos="187872" algn="l"/>
              </a:tabLst>
            </a:pPr>
            <a:r>
              <a:rPr lang="pt-BR" sz="2663" spc="73" dirty="0">
                <a:solidFill>
                  <a:srgbClr val="FF0000"/>
                </a:solidFill>
                <a:latin typeface="Tahoma"/>
                <a:cs typeface="Tahoma"/>
              </a:rPr>
              <a:t>Forma</a:t>
            </a:r>
            <a:r>
              <a:rPr sz="2663" spc="-11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spc="-9" dirty="0" err="1">
                <a:solidFill>
                  <a:srgbClr val="FF0000"/>
                </a:solidFill>
                <a:latin typeface="Tahoma"/>
                <a:cs typeface="Tahoma"/>
              </a:rPr>
              <a:t>antig</a:t>
            </a:r>
            <a:r>
              <a:rPr lang="pt-BR" sz="2663" spc="-9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2663" spc="-9" dirty="0">
                <a:solidFill>
                  <a:srgbClr val="FF0000"/>
                </a:solidFill>
                <a:latin typeface="Tahoma"/>
                <a:cs typeface="Tahoma"/>
              </a:rPr>
              <a:t>:</a:t>
            </a:r>
            <a:endParaRPr sz="2663" dirty="0">
              <a:solidFill>
                <a:srgbClr val="FF0000"/>
              </a:solidFill>
              <a:latin typeface="Tahoma"/>
              <a:cs typeface="Tahoma"/>
            </a:endParaRPr>
          </a:p>
          <a:p>
            <a:br>
              <a:rPr lang="pt-BR" sz="1598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82F07-9155-E43F-8D82-4EE88B7952CA}"/>
              </a:ext>
            </a:extLst>
          </p:cNvPr>
          <p:cNvSpPr txBox="1"/>
          <p:nvPr/>
        </p:nvSpPr>
        <p:spPr>
          <a:xfrm>
            <a:off x="2089227" y="3436574"/>
            <a:ext cx="7887228" cy="26745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 </a:t>
            </a: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push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 *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[1,2,3]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[2,4,6]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49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FDBFF0-DC96-9EB0-7264-C192A1995C5C}"/>
              </a:ext>
            </a:extLst>
          </p:cNvPr>
          <p:cNvSpPr txBox="1"/>
          <p:nvPr/>
        </p:nvSpPr>
        <p:spPr>
          <a:xfrm>
            <a:off x="210466" y="2473342"/>
            <a:ext cx="6239550" cy="26745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map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[1, 2, 3]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 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[2, 4, 6]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738" y="1056379"/>
            <a:ext cx="14003512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123" dirty="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9227" y="2038704"/>
            <a:ext cx="7883819" cy="3975133"/>
          </a:xfrm>
          <a:prstGeom prst="rect">
            <a:avLst/>
          </a:prstGeom>
        </p:spPr>
        <p:txBody>
          <a:bodyPr vert="horz" wrap="square" lIns="0" tIns="99701" rIns="0" bIns="0" rtlCol="0">
            <a:spAutoFit/>
          </a:bodyPr>
          <a:lstStyle/>
          <a:p>
            <a:pPr marL="256452" indent="-244926">
              <a:spcBef>
                <a:spcPts val="784"/>
              </a:spcBef>
              <a:buFont typeface="Arial MT"/>
              <a:buChar char="•"/>
              <a:tabLst>
                <a:tab pos="256452" algn="l"/>
              </a:tabLst>
            </a:pPr>
            <a:r>
              <a:rPr sz="2179" spc="68" dirty="0">
                <a:latin typeface="Tahoma"/>
                <a:cs typeface="Tahoma"/>
              </a:rPr>
              <a:t>Usando</a:t>
            </a:r>
            <a:r>
              <a:rPr sz="2179" spc="-145" dirty="0">
                <a:latin typeface="Tahoma"/>
                <a:cs typeface="Tahoma"/>
              </a:rPr>
              <a:t> </a:t>
            </a:r>
            <a:r>
              <a:rPr sz="2179" spc="-19" dirty="0">
                <a:latin typeface="Tahoma"/>
                <a:cs typeface="Tahoma"/>
              </a:rPr>
              <a:t>map:</a:t>
            </a:r>
            <a:endParaRPr sz="2179" dirty="0">
              <a:latin typeface="Tahoma"/>
              <a:cs typeface="Tahoma"/>
            </a:endParaRPr>
          </a:p>
          <a:p>
            <a:pPr>
              <a:spcBef>
                <a:spcPts val="1293"/>
              </a:spcBef>
            </a:pPr>
            <a:endParaRPr lang="pt-BR" sz="1452" dirty="0">
              <a:latin typeface="Courier New"/>
              <a:cs typeface="Courier New"/>
            </a:endParaRPr>
          </a:p>
          <a:p>
            <a:pPr>
              <a:spcBef>
                <a:spcPts val="1293"/>
              </a:spcBef>
            </a:pPr>
            <a:endParaRPr lang="pt-BR" sz="1452" dirty="0">
              <a:latin typeface="Courier New"/>
              <a:cs typeface="Courier New"/>
            </a:endParaRPr>
          </a:p>
          <a:p>
            <a:pPr>
              <a:spcBef>
                <a:spcPts val="1293"/>
              </a:spcBef>
            </a:pPr>
            <a:endParaRPr lang="pt-BR" sz="1452" dirty="0">
              <a:latin typeface="Courier New"/>
              <a:cs typeface="Courier New"/>
            </a:endParaRPr>
          </a:p>
          <a:p>
            <a:pPr>
              <a:spcBef>
                <a:spcPts val="1293"/>
              </a:spcBef>
            </a:pPr>
            <a:endParaRPr lang="pt-BR" sz="1452" dirty="0">
              <a:latin typeface="Courier New"/>
              <a:cs typeface="Courier New"/>
            </a:endParaRPr>
          </a:p>
          <a:p>
            <a:pPr>
              <a:spcBef>
                <a:spcPts val="1293"/>
              </a:spcBef>
            </a:pPr>
            <a:endParaRPr lang="pt-BR" sz="1452" dirty="0">
              <a:latin typeface="Courier New"/>
              <a:cs typeface="Courier New"/>
            </a:endParaRPr>
          </a:p>
          <a:p>
            <a:pPr>
              <a:spcBef>
                <a:spcPts val="1293"/>
              </a:spcBef>
            </a:pPr>
            <a:endParaRPr lang="pt-BR" sz="1452" dirty="0">
              <a:latin typeface="Courier New"/>
              <a:cs typeface="Courier New"/>
            </a:endParaRPr>
          </a:p>
          <a:p>
            <a:pPr>
              <a:spcBef>
                <a:spcPts val="1293"/>
              </a:spcBef>
            </a:pPr>
            <a:r>
              <a:rPr lang="pt-BR" sz="1452" dirty="0">
                <a:latin typeface="Courier New"/>
                <a:cs typeface="Courier New"/>
              </a:rPr>
              <a:t>4</a:t>
            </a:r>
            <a:endParaRPr sz="1452" dirty="0">
              <a:latin typeface="Courier New"/>
              <a:cs typeface="Courier New"/>
            </a:endParaRPr>
          </a:p>
          <a:p>
            <a:pPr marL="257029" marR="4610" indent="-246078">
              <a:lnSpc>
                <a:spcPts val="2087"/>
              </a:lnSpc>
              <a:buFont typeface="Arial MT"/>
              <a:buChar char="•"/>
              <a:tabLst>
                <a:tab pos="257029" algn="l"/>
              </a:tabLst>
            </a:pPr>
            <a:endParaRPr lang="pt-BR" sz="2179" spc="309" dirty="0">
              <a:latin typeface="Tahoma"/>
              <a:cs typeface="Tahoma"/>
            </a:endParaRPr>
          </a:p>
          <a:p>
            <a:pPr marL="257029" marR="4610" indent="-246078">
              <a:lnSpc>
                <a:spcPts val="2087"/>
              </a:lnSpc>
              <a:buFont typeface="Arial MT"/>
              <a:buChar char="•"/>
              <a:tabLst>
                <a:tab pos="257029" algn="l"/>
              </a:tabLst>
            </a:pPr>
            <a:r>
              <a:rPr sz="2179" spc="309" dirty="0">
                <a:latin typeface="Tahoma"/>
                <a:cs typeface="Tahoma"/>
              </a:rPr>
              <a:t>O</a:t>
            </a:r>
            <a:r>
              <a:rPr sz="2179" spc="-109" dirty="0">
                <a:latin typeface="Tahoma"/>
                <a:cs typeface="Tahoma"/>
              </a:rPr>
              <a:t> </a:t>
            </a:r>
            <a:r>
              <a:rPr sz="2179" spc="81" dirty="0">
                <a:latin typeface="Tahoma"/>
                <a:cs typeface="Tahoma"/>
              </a:rPr>
              <a:t>map</a:t>
            </a:r>
            <a:r>
              <a:rPr sz="2179" spc="-100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executa</a:t>
            </a:r>
            <a:r>
              <a:rPr sz="2179" spc="-96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a</a:t>
            </a:r>
            <a:r>
              <a:rPr sz="2179" spc="-96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função</a:t>
            </a:r>
            <a:r>
              <a:rPr sz="2179" spc="-96" dirty="0">
                <a:latin typeface="Tahoma"/>
                <a:cs typeface="Tahoma"/>
              </a:rPr>
              <a:t> </a:t>
            </a:r>
            <a:r>
              <a:rPr sz="2179" spc="127" dirty="0">
                <a:latin typeface="Tahoma"/>
                <a:cs typeface="Tahoma"/>
              </a:rPr>
              <a:t>de</a:t>
            </a:r>
            <a:r>
              <a:rPr sz="2179" spc="-96" dirty="0">
                <a:latin typeface="Tahoma"/>
                <a:cs typeface="Tahoma"/>
              </a:rPr>
              <a:t> </a:t>
            </a:r>
            <a:r>
              <a:rPr sz="2179" spc="45" dirty="0">
                <a:latin typeface="Tahoma"/>
                <a:cs typeface="Tahoma"/>
              </a:rPr>
              <a:t>callback</a:t>
            </a:r>
            <a:r>
              <a:rPr sz="2179" spc="-100" dirty="0">
                <a:latin typeface="Tahoma"/>
                <a:cs typeface="Tahoma"/>
              </a:rPr>
              <a:t> </a:t>
            </a:r>
            <a:r>
              <a:rPr sz="2179" spc="73" dirty="0">
                <a:latin typeface="Tahoma"/>
                <a:cs typeface="Tahoma"/>
              </a:rPr>
              <a:t>recebida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spc="100" dirty="0">
                <a:latin typeface="Tahoma"/>
                <a:cs typeface="Tahoma"/>
              </a:rPr>
              <a:t>por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spc="-9" dirty="0">
                <a:latin typeface="Tahoma"/>
                <a:cs typeface="Tahoma"/>
              </a:rPr>
              <a:t>parâmetro </a:t>
            </a:r>
            <a:r>
              <a:rPr sz="2179" dirty="0">
                <a:latin typeface="Tahoma"/>
                <a:cs typeface="Tahoma"/>
              </a:rPr>
              <a:t>para</a:t>
            </a:r>
            <a:r>
              <a:rPr sz="2179" spc="-77" dirty="0">
                <a:latin typeface="Tahoma"/>
                <a:cs typeface="Tahoma"/>
              </a:rPr>
              <a:t> </a:t>
            </a:r>
            <a:r>
              <a:rPr sz="2179" spc="59" dirty="0">
                <a:latin typeface="Tahoma"/>
                <a:cs typeface="Tahoma"/>
              </a:rPr>
              <a:t>cada</a:t>
            </a:r>
            <a:r>
              <a:rPr sz="2179" spc="-77" dirty="0">
                <a:latin typeface="Tahoma"/>
                <a:cs typeface="Tahoma"/>
              </a:rPr>
              <a:t> </a:t>
            </a:r>
            <a:r>
              <a:rPr sz="2179" spc="59" dirty="0">
                <a:latin typeface="Tahoma"/>
                <a:cs typeface="Tahoma"/>
              </a:rPr>
              <a:t>elemento</a:t>
            </a:r>
            <a:r>
              <a:rPr sz="2179" spc="-87" dirty="0">
                <a:latin typeface="Tahoma"/>
                <a:cs typeface="Tahoma"/>
              </a:rPr>
              <a:t> </a:t>
            </a:r>
            <a:r>
              <a:rPr sz="2179" spc="49" dirty="0">
                <a:latin typeface="Tahoma"/>
                <a:cs typeface="Tahoma"/>
              </a:rPr>
              <a:t>iterado</a:t>
            </a:r>
            <a:r>
              <a:rPr sz="2179" spc="-81" dirty="0">
                <a:latin typeface="Tahoma"/>
                <a:cs typeface="Tahoma"/>
              </a:rPr>
              <a:t> </a:t>
            </a:r>
            <a:r>
              <a:rPr sz="2179" spc="91" dirty="0">
                <a:latin typeface="Tahoma"/>
                <a:cs typeface="Tahoma"/>
              </a:rPr>
              <a:t>e</a:t>
            </a:r>
            <a:r>
              <a:rPr sz="2179" spc="-81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constrói</a:t>
            </a:r>
            <a:r>
              <a:rPr sz="2179" spc="-77" dirty="0">
                <a:latin typeface="Tahoma"/>
                <a:cs typeface="Tahoma"/>
              </a:rPr>
              <a:t> </a:t>
            </a:r>
            <a:r>
              <a:rPr sz="2179" spc="64" dirty="0">
                <a:latin typeface="Tahoma"/>
                <a:cs typeface="Tahoma"/>
              </a:rPr>
              <a:t>um</a:t>
            </a:r>
            <a:r>
              <a:rPr sz="2179" spc="-81" dirty="0">
                <a:latin typeface="Tahoma"/>
                <a:cs typeface="Tahoma"/>
              </a:rPr>
              <a:t> </a:t>
            </a:r>
            <a:r>
              <a:rPr sz="2179" spc="64" dirty="0">
                <a:latin typeface="Tahoma"/>
                <a:cs typeface="Tahoma"/>
              </a:rPr>
              <a:t>novo</a:t>
            </a:r>
            <a:r>
              <a:rPr sz="2179" spc="-77" dirty="0">
                <a:latin typeface="Tahoma"/>
                <a:cs typeface="Tahoma"/>
              </a:rPr>
              <a:t> </a:t>
            </a:r>
            <a:r>
              <a:rPr sz="2179" spc="-9" dirty="0">
                <a:latin typeface="Tahoma"/>
                <a:cs typeface="Tahoma"/>
              </a:rPr>
              <a:t>array.</a:t>
            </a:r>
            <a:endParaRPr sz="2179" dirty="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213DC-2175-F917-80C4-0ACBE5A2137A}"/>
              </a:ext>
            </a:extLst>
          </p:cNvPr>
          <p:cNvSpPr txBox="1"/>
          <p:nvPr/>
        </p:nvSpPr>
        <p:spPr>
          <a:xfrm>
            <a:off x="6501899" y="604498"/>
            <a:ext cx="4464888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>
                <a:solidFill>
                  <a:srgbClr val="404040"/>
                </a:solidFill>
                <a:latin typeface="DeepSeek-CJK-patch"/>
              </a:rPr>
              <a:t>O elemento atual sendo processado no array (iterador)</a:t>
            </a:r>
            <a:endParaRPr lang="pt-BR" sz="2397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EA3281-7E28-630D-62E9-12F008847E05}"/>
              </a:ext>
            </a:extLst>
          </p:cNvPr>
          <p:cNvCxnSpPr>
            <a:cxnSpLocks/>
          </p:cNvCxnSpPr>
          <p:nvPr/>
        </p:nvCxnSpPr>
        <p:spPr>
          <a:xfrm flipV="1">
            <a:off x="4421095" y="1366095"/>
            <a:ext cx="2217578" cy="1859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863856-C7A0-7408-FC44-8A6B694B9E14}"/>
              </a:ext>
            </a:extLst>
          </p:cNvPr>
          <p:cNvSpPr txBox="1"/>
          <p:nvPr/>
        </p:nvSpPr>
        <p:spPr>
          <a:xfrm>
            <a:off x="6461309" y="2952630"/>
            <a:ext cx="5682584" cy="10759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DCDCAA"/>
                </a:solidFill>
                <a:latin typeface="Consolas" panose="020B0609020204030204" pitchFamily="49" charset="0"/>
              </a:rPr>
              <a:t>map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numero</a:t>
            </a:r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numero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numeros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1598" dirty="0">
                <a:solidFill>
                  <a:srgbClr val="6A9955"/>
                </a:solidFill>
                <a:latin typeface="Consolas" panose="020B0609020204030204" pitchFamily="49" charset="0"/>
              </a:rPr>
              <a:t>// [1, 2, 3]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dobro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);   </a:t>
            </a:r>
            <a:r>
              <a:rPr lang="pt-BR" sz="1598" dirty="0">
                <a:solidFill>
                  <a:srgbClr val="6A9955"/>
                </a:solidFill>
                <a:latin typeface="Consolas" panose="020B0609020204030204" pitchFamily="49" charset="0"/>
              </a:rPr>
              <a:t>// [2, 4, 6]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D56B4-1605-46DA-C634-195D1CE28631}"/>
              </a:ext>
            </a:extLst>
          </p:cNvPr>
          <p:cNvSpPr txBox="1"/>
          <p:nvPr/>
        </p:nvSpPr>
        <p:spPr>
          <a:xfrm>
            <a:off x="7212222" y="2473342"/>
            <a:ext cx="2890551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/>
              <a:t>Com Arrow 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ACD557-0E11-4240-6E3E-574C876CE851}"/>
              </a:ext>
            </a:extLst>
          </p:cNvPr>
          <p:cNvCxnSpPr/>
          <p:nvPr/>
        </p:nvCxnSpPr>
        <p:spPr>
          <a:xfrm flipH="1">
            <a:off x="9647615" y="2312778"/>
            <a:ext cx="1014747" cy="91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14D6C58-80CB-6E35-A49F-34D368A04C58}"/>
              </a:ext>
            </a:extLst>
          </p:cNvPr>
          <p:cNvSpPr txBox="1"/>
          <p:nvPr/>
        </p:nvSpPr>
        <p:spPr>
          <a:xfrm>
            <a:off x="9376440" y="1595676"/>
            <a:ext cx="2928474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/>
              <a:t>Equivalente</a:t>
            </a:r>
          </a:p>
          <a:p>
            <a:r>
              <a:rPr lang="pt-BR" sz="2397" dirty="0"/>
              <a:t>A funtion (numero)</a:t>
            </a:r>
          </a:p>
        </p:txBody>
      </p:sp>
    </p:spTree>
    <p:extLst>
      <p:ext uri="{BB962C8B-B14F-4D97-AF65-F5344CB8AC3E}">
        <p14:creationId xmlns:p14="http://schemas.microsoft.com/office/powerpoint/2010/main" val="333994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9227" y="1198936"/>
            <a:ext cx="2078752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55" dirty="0"/>
              <a:t>Filter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3739" y="1906879"/>
            <a:ext cx="7712079" cy="1355199"/>
          </a:xfrm>
          <a:prstGeom prst="rect">
            <a:avLst/>
          </a:prstGeom>
        </p:spPr>
        <p:txBody>
          <a:bodyPr vert="horz" wrap="square" lIns="0" tIns="25357" rIns="0" bIns="0" rtlCol="0">
            <a:spAutoFit/>
          </a:bodyPr>
          <a:lstStyle/>
          <a:p>
            <a:pPr marL="187297" indent="-175771">
              <a:spcBef>
                <a:spcPts val="200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spc="73" dirty="0">
                <a:latin typeface="Tahoma"/>
                <a:cs typeface="Tahoma"/>
              </a:rPr>
              <a:t>Quando</a:t>
            </a:r>
            <a:r>
              <a:rPr sz="2131" spc="-23" dirty="0"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precisarmos</a:t>
            </a:r>
            <a:r>
              <a:rPr sz="2131" spc="-1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-19" dirty="0">
                <a:solidFill>
                  <a:srgbClr val="FF0000"/>
                </a:solidFill>
                <a:latin typeface="Tahoma"/>
                <a:cs typeface="Tahoma"/>
              </a:rPr>
              <a:t>filtrar</a:t>
            </a:r>
            <a:r>
              <a:rPr sz="2131" spc="-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elementos</a:t>
            </a:r>
            <a:r>
              <a:rPr sz="2131" spc="-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96" dirty="0">
                <a:latin typeface="Tahoma"/>
                <a:cs typeface="Tahoma"/>
              </a:rPr>
              <a:t>de</a:t>
            </a:r>
            <a:r>
              <a:rPr sz="2131" spc="-4" dirty="0"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uma</a:t>
            </a:r>
            <a:r>
              <a:rPr sz="2131" spc="-9" dirty="0">
                <a:latin typeface="Tahoma"/>
                <a:cs typeface="Tahoma"/>
              </a:rPr>
              <a:t> lista.</a:t>
            </a:r>
            <a:endParaRPr sz="2131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r>
              <a:rPr lang="pt-BR" sz="2131" spc="-9" dirty="0">
                <a:latin typeface="Tahoma"/>
                <a:cs typeface="Tahoma"/>
              </a:rPr>
              <a:t>Forma tradicional</a:t>
            </a:r>
            <a:r>
              <a:rPr sz="2131" spc="-9" dirty="0">
                <a:latin typeface="Tahoma"/>
                <a:cs typeface="Tahoma"/>
              </a:rPr>
              <a:t>:</a:t>
            </a:r>
            <a:endParaRPr sz="2131" dirty="0">
              <a:latin typeface="Tahoma"/>
              <a:cs typeface="Tahoma"/>
            </a:endParaRPr>
          </a:p>
          <a:p>
            <a:pPr marL="458155">
              <a:lnSpc>
                <a:spcPts val="1734"/>
              </a:lnSpc>
            </a:pPr>
            <a:endParaRPr lang="pt-BR" sz="1864" dirty="0">
              <a:latin typeface="Courier New"/>
              <a:cs typeface="Courier New"/>
            </a:endParaRPr>
          </a:p>
          <a:p>
            <a:pPr marL="458155">
              <a:lnSpc>
                <a:spcPts val="1734"/>
              </a:lnSpc>
            </a:pPr>
            <a:endParaRPr lang="pt-BR" sz="1598" dirty="0">
              <a:latin typeface="Courier New"/>
              <a:cs typeface="Courier New"/>
            </a:endParaRPr>
          </a:p>
          <a:p>
            <a:pPr marL="458155">
              <a:lnSpc>
                <a:spcPts val="1734"/>
              </a:lnSpc>
            </a:pPr>
            <a:endParaRPr sz="1598" dirty="0">
              <a:latin typeface="Courier New"/>
              <a:cs typeface="Courier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58D70-BD1B-7057-4499-E659A69DF6A2}"/>
              </a:ext>
            </a:extLst>
          </p:cNvPr>
          <p:cNvSpPr txBox="1"/>
          <p:nvPr/>
        </p:nvSpPr>
        <p:spPr>
          <a:xfrm>
            <a:off x="1002427" y="2732856"/>
            <a:ext cx="11162219" cy="38216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}];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[];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&gt;=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DCDCAA"/>
                </a:solidFill>
                <a:latin typeface="Consolas" panose="020B0609020204030204" pitchFamily="49" charset="0"/>
              </a:rPr>
              <a:t>push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1864" dirty="0">
                <a:solidFill>
                  <a:srgbClr val="6A9955"/>
                </a:solidFill>
                <a:latin typeface="Consolas" panose="020B0609020204030204" pitchFamily="49" charset="0"/>
              </a:rPr>
              <a:t>// [{nome:’josé', idade:18}, {nome:'maria', idade:20}]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864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17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E2255D-6568-1DB4-4C6A-F7D408437333}"/>
              </a:ext>
            </a:extLst>
          </p:cNvPr>
          <p:cNvSpPr txBox="1"/>
          <p:nvPr/>
        </p:nvSpPr>
        <p:spPr>
          <a:xfrm>
            <a:off x="717840" y="2419295"/>
            <a:ext cx="9944523" cy="415004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filter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&gt;=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[{nome:’josé', idade:18}, {nome:'maria', idade:20}]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9227" y="1198936"/>
            <a:ext cx="1875803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55" dirty="0"/>
              <a:t>Filter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3739" y="1981735"/>
            <a:ext cx="6798806" cy="358753"/>
          </a:xfrm>
          <a:prstGeom prst="rect">
            <a:avLst/>
          </a:prstGeom>
        </p:spPr>
        <p:txBody>
          <a:bodyPr vert="horz" wrap="square" lIns="0" tIns="30544" rIns="0" bIns="0" rtlCol="0">
            <a:spAutoFit/>
          </a:bodyPr>
          <a:lstStyle/>
          <a:p>
            <a:pPr marL="188449" indent="-176923">
              <a:spcBef>
                <a:spcPts val="241"/>
              </a:spcBef>
              <a:buFont typeface="Arial MT"/>
              <a:buChar char="•"/>
              <a:tabLst>
                <a:tab pos="188449" algn="l"/>
              </a:tabLst>
            </a:pPr>
            <a:r>
              <a:rPr sz="2131" spc="81" dirty="0">
                <a:latin typeface="Tahoma"/>
                <a:cs typeface="Tahoma"/>
              </a:rPr>
              <a:t>Quando</a:t>
            </a:r>
            <a:r>
              <a:rPr sz="2131" spc="27" dirty="0">
                <a:latin typeface="Tahoma"/>
                <a:cs typeface="Tahoma"/>
              </a:rPr>
              <a:t> </a:t>
            </a:r>
            <a:r>
              <a:rPr sz="2131" spc="9" dirty="0">
                <a:solidFill>
                  <a:srgbClr val="FF0000"/>
                </a:solidFill>
                <a:latin typeface="Tahoma"/>
                <a:cs typeface="Tahoma"/>
              </a:rPr>
              <a:t>precisarmos</a:t>
            </a:r>
            <a:r>
              <a:rPr sz="2131" spc="1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filtrar</a:t>
            </a:r>
            <a:r>
              <a:rPr sz="2131" spc="2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9" dirty="0">
                <a:solidFill>
                  <a:srgbClr val="FF0000"/>
                </a:solidFill>
                <a:latin typeface="Tahoma"/>
                <a:cs typeface="Tahoma"/>
              </a:rPr>
              <a:t>elementos</a:t>
            </a:r>
            <a:r>
              <a:rPr sz="2131" spc="2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96" dirty="0">
                <a:latin typeface="Tahoma"/>
                <a:cs typeface="Tahoma"/>
              </a:rPr>
              <a:t>de</a:t>
            </a:r>
            <a:r>
              <a:rPr sz="2131" spc="13" dirty="0">
                <a:latin typeface="Tahoma"/>
                <a:cs typeface="Tahoma"/>
              </a:rPr>
              <a:t> </a:t>
            </a:r>
            <a:r>
              <a:rPr sz="2131" spc="9" dirty="0">
                <a:latin typeface="Tahoma"/>
                <a:cs typeface="Tahoma"/>
              </a:rPr>
              <a:t>uma</a:t>
            </a:r>
            <a:r>
              <a:rPr sz="2131" spc="19" dirty="0">
                <a:latin typeface="Tahoma"/>
                <a:cs typeface="Tahoma"/>
              </a:rPr>
              <a:t> </a:t>
            </a:r>
            <a:r>
              <a:rPr sz="2131" spc="-9" dirty="0" err="1">
                <a:latin typeface="Tahoma"/>
                <a:cs typeface="Tahoma"/>
              </a:rPr>
              <a:t>lista</a:t>
            </a:r>
            <a:r>
              <a:rPr sz="2131" spc="-9" dirty="0">
                <a:latin typeface="Tahoma"/>
                <a:cs typeface="Tahoma"/>
              </a:rPr>
              <a:t>.</a:t>
            </a:r>
            <a:endParaRPr sz="2131" dirty="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FF683-EA34-5166-3F1D-B6107D2C6C7C}"/>
              </a:ext>
            </a:extLst>
          </p:cNvPr>
          <p:cNvSpPr txBox="1"/>
          <p:nvPr/>
        </p:nvSpPr>
        <p:spPr>
          <a:xfrm>
            <a:off x="8121666" y="1042195"/>
            <a:ext cx="4464888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>
                <a:solidFill>
                  <a:srgbClr val="404040"/>
                </a:solidFill>
                <a:latin typeface="DeepSeek-CJK-patch"/>
              </a:rPr>
              <a:t>O elemento atual sendo processado no array (iterador)</a:t>
            </a:r>
            <a:endParaRPr lang="pt-BR" sz="2397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1916ED-CCDF-5748-3AD3-B90278480FC4}"/>
              </a:ext>
            </a:extLst>
          </p:cNvPr>
          <p:cNvCxnSpPr>
            <a:cxnSpLocks/>
          </p:cNvCxnSpPr>
          <p:nvPr/>
        </p:nvCxnSpPr>
        <p:spPr>
          <a:xfrm flipV="1">
            <a:off x="8429919" y="1902907"/>
            <a:ext cx="0" cy="1931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6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9638" y="324022"/>
            <a:ext cx="1875803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55" dirty="0"/>
              <a:t>Filter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50" y="1423181"/>
            <a:ext cx="6800946" cy="712311"/>
          </a:xfrm>
          <a:prstGeom prst="rect">
            <a:avLst/>
          </a:prstGeom>
        </p:spPr>
        <p:txBody>
          <a:bodyPr vert="horz" wrap="square" lIns="0" tIns="30544" rIns="0" bIns="0" rtlCol="0">
            <a:spAutoFit/>
          </a:bodyPr>
          <a:lstStyle/>
          <a:p>
            <a:pPr marL="188449" indent="-176923">
              <a:spcBef>
                <a:spcPts val="241"/>
              </a:spcBef>
              <a:buFont typeface="Arial MT"/>
              <a:buChar char="•"/>
              <a:tabLst>
                <a:tab pos="188449" algn="l"/>
              </a:tabLst>
            </a:pPr>
            <a:r>
              <a:rPr sz="2131" spc="81" dirty="0">
                <a:latin typeface="Tahoma"/>
                <a:cs typeface="Tahoma"/>
              </a:rPr>
              <a:t>Quando</a:t>
            </a:r>
            <a:r>
              <a:rPr sz="2131" spc="27" dirty="0">
                <a:latin typeface="Tahoma"/>
                <a:cs typeface="Tahoma"/>
              </a:rPr>
              <a:t> </a:t>
            </a:r>
            <a:r>
              <a:rPr sz="2131" spc="9" dirty="0">
                <a:solidFill>
                  <a:srgbClr val="FF0000"/>
                </a:solidFill>
                <a:latin typeface="Tahoma"/>
                <a:cs typeface="Tahoma"/>
              </a:rPr>
              <a:t>precisarmos</a:t>
            </a:r>
            <a:r>
              <a:rPr sz="2131" spc="1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filtrar</a:t>
            </a:r>
            <a:r>
              <a:rPr sz="2131" spc="2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9" dirty="0">
                <a:solidFill>
                  <a:srgbClr val="FF0000"/>
                </a:solidFill>
                <a:latin typeface="Tahoma"/>
                <a:cs typeface="Tahoma"/>
              </a:rPr>
              <a:t>elementos</a:t>
            </a:r>
            <a:r>
              <a:rPr sz="2131" spc="2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96" dirty="0">
                <a:latin typeface="Tahoma"/>
                <a:cs typeface="Tahoma"/>
              </a:rPr>
              <a:t>de</a:t>
            </a:r>
            <a:r>
              <a:rPr sz="2131" spc="13" dirty="0">
                <a:latin typeface="Tahoma"/>
                <a:cs typeface="Tahoma"/>
              </a:rPr>
              <a:t> </a:t>
            </a:r>
            <a:r>
              <a:rPr sz="2131" spc="9" dirty="0">
                <a:latin typeface="Tahoma"/>
                <a:cs typeface="Tahoma"/>
              </a:rPr>
              <a:t>uma</a:t>
            </a:r>
            <a:r>
              <a:rPr sz="2131" spc="19" dirty="0">
                <a:latin typeface="Tahoma"/>
                <a:cs typeface="Tahoma"/>
              </a:rPr>
              <a:t> </a:t>
            </a:r>
            <a:r>
              <a:rPr sz="2131" spc="-9" dirty="0" err="1">
                <a:latin typeface="Tahoma"/>
                <a:cs typeface="Tahoma"/>
              </a:rPr>
              <a:t>lista</a:t>
            </a:r>
            <a:r>
              <a:rPr sz="2131" spc="-9" dirty="0">
                <a:latin typeface="Tahoma"/>
                <a:cs typeface="Tahoma"/>
              </a:rPr>
              <a:t>.</a:t>
            </a:r>
            <a:endParaRPr lang="pt-BR" sz="2131" spc="-9" dirty="0">
              <a:latin typeface="Tahoma"/>
              <a:cs typeface="Tahoma"/>
            </a:endParaRPr>
          </a:p>
          <a:p>
            <a:pPr marL="188449" indent="-176923">
              <a:spcBef>
                <a:spcPts val="241"/>
              </a:spcBef>
              <a:buFont typeface="Arial MT"/>
              <a:buChar char="•"/>
              <a:tabLst>
                <a:tab pos="188449" algn="l"/>
              </a:tabLst>
            </a:pPr>
            <a:r>
              <a:rPr lang="pt-BR" sz="2131" spc="-9" dirty="0">
                <a:latin typeface="Tahoma"/>
                <a:cs typeface="Tahoma"/>
              </a:rPr>
              <a:t>Com arrow Function</a:t>
            </a:r>
            <a:endParaRPr sz="2131" dirty="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FF683-EA34-5166-3F1D-B6107D2C6C7C}"/>
              </a:ext>
            </a:extLst>
          </p:cNvPr>
          <p:cNvSpPr txBox="1"/>
          <p:nvPr/>
        </p:nvSpPr>
        <p:spPr>
          <a:xfrm>
            <a:off x="8121666" y="1042195"/>
            <a:ext cx="4464888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>
                <a:solidFill>
                  <a:srgbClr val="404040"/>
                </a:solidFill>
                <a:latin typeface="DeepSeek-CJK-patch"/>
              </a:rPr>
              <a:t>O elemento atual sendo processado no array (iterador)</a:t>
            </a:r>
            <a:endParaRPr lang="pt-BR" sz="23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2255D-6568-1DB4-4C6A-F7D408437333}"/>
              </a:ext>
            </a:extLst>
          </p:cNvPr>
          <p:cNvSpPr txBox="1"/>
          <p:nvPr/>
        </p:nvSpPr>
        <p:spPr>
          <a:xfrm>
            <a:off x="717839" y="2419295"/>
            <a:ext cx="10756317" cy="45189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filter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&gt;=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[{nome:’josé', idade:18}, {nome:'maria', idade:20}]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1916ED-CCDF-5748-3AD3-B90278480FC4}"/>
              </a:ext>
            </a:extLst>
          </p:cNvPr>
          <p:cNvCxnSpPr>
            <a:cxnSpLocks/>
          </p:cNvCxnSpPr>
          <p:nvPr/>
        </p:nvCxnSpPr>
        <p:spPr>
          <a:xfrm flipV="1">
            <a:off x="8429919" y="1902907"/>
            <a:ext cx="0" cy="1931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328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536" y="171604"/>
            <a:ext cx="2281703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100" dirty="0"/>
              <a:t>Find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840" y="735815"/>
            <a:ext cx="11263694" cy="1155120"/>
          </a:xfrm>
          <a:prstGeom prst="rect">
            <a:avLst/>
          </a:prstGeom>
        </p:spPr>
        <p:txBody>
          <a:bodyPr vert="horz" wrap="square" lIns="0" tIns="53019" rIns="0" bIns="0" rtlCol="0">
            <a:spAutoFit/>
          </a:bodyPr>
          <a:lstStyle/>
          <a:p>
            <a:pPr marL="187872" indent="-176346">
              <a:spcBef>
                <a:spcPts val="417"/>
              </a:spcBef>
              <a:buFont typeface="Arial MT"/>
              <a:buChar char="•"/>
              <a:tabLst>
                <a:tab pos="187872" algn="l"/>
              </a:tabLst>
            </a:pPr>
            <a:r>
              <a:rPr sz="2397" spc="-23" dirty="0">
                <a:latin typeface="Tahoma"/>
                <a:cs typeface="Tahoma"/>
              </a:rPr>
              <a:t>Para</a:t>
            </a:r>
            <a:r>
              <a:rPr sz="2397" spc="4" dirty="0">
                <a:latin typeface="Tahoma"/>
                <a:cs typeface="Tahoma"/>
              </a:rPr>
              <a:t> </a:t>
            </a:r>
            <a:r>
              <a:rPr sz="2397" dirty="0">
                <a:solidFill>
                  <a:srgbClr val="FF0000"/>
                </a:solidFill>
                <a:latin typeface="Tahoma"/>
                <a:cs typeface="Tahoma"/>
              </a:rPr>
              <a:t>encontrar</a:t>
            </a:r>
            <a:r>
              <a:rPr sz="2397" spc="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7" dirty="0">
                <a:solidFill>
                  <a:srgbClr val="FF0000"/>
                </a:solidFill>
                <a:latin typeface="Tahoma"/>
                <a:cs typeface="Tahoma"/>
              </a:rPr>
              <a:t>um</a:t>
            </a:r>
            <a:r>
              <a:rPr sz="2397" spc="-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7" dirty="0">
                <a:solidFill>
                  <a:srgbClr val="FF0000"/>
                </a:solidFill>
                <a:latin typeface="Tahoma"/>
                <a:cs typeface="Tahoma"/>
              </a:rPr>
              <a:t>item</a:t>
            </a:r>
            <a:r>
              <a:rPr sz="2397" spc="-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7" dirty="0">
                <a:solidFill>
                  <a:srgbClr val="FF0000"/>
                </a:solidFill>
                <a:latin typeface="Tahoma"/>
                <a:cs typeface="Tahoma"/>
              </a:rPr>
              <a:t>específico</a:t>
            </a:r>
            <a:r>
              <a:rPr sz="2397" dirty="0">
                <a:latin typeface="Tahoma"/>
                <a:cs typeface="Tahoma"/>
              </a:rPr>
              <a:t> dentro</a:t>
            </a:r>
            <a:r>
              <a:rPr sz="2397" spc="4" dirty="0">
                <a:latin typeface="Tahoma"/>
                <a:cs typeface="Tahoma"/>
              </a:rPr>
              <a:t> </a:t>
            </a:r>
            <a:r>
              <a:rPr sz="2397" spc="64" dirty="0">
                <a:latin typeface="Tahoma"/>
                <a:cs typeface="Tahoma"/>
              </a:rPr>
              <a:t>de</a:t>
            </a:r>
            <a:r>
              <a:rPr sz="2397" spc="4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um</a:t>
            </a:r>
            <a:r>
              <a:rPr sz="2397" spc="-4" dirty="0">
                <a:latin typeface="Tahoma"/>
                <a:cs typeface="Tahoma"/>
              </a:rPr>
              <a:t> </a:t>
            </a:r>
            <a:r>
              <a:rPr sz="2397" spc="-9" dirty="0">
                <a:latin typeface="Tahoma"/>
                <a:cs typeface="Tahoma"/>
              </a:rPr>
              <a:t>array.</a:t>
            </a:r>
            <a:r>
              <a:rPr lang="pt-BR" sz="2397" spc="-9" dirty="0">
                <a:latin typeface="Tahoma"/>
                <a:cs typeface="Tahoma"/>
              </a:rPr>
              <a:t> (</a:t>
            </a:r>
            <a:r>
              <a:rPr lang="pt-BR" sz="2397" spc="-9" dirty="0">
                <a:solidFill>
                  <a:srgbClr val="FF0000"/>
                </a:solidFill>
                <a:latin typeface="Tahoma"/>
                <a:cs typeface="Tahoma"/>
              </a:rPr>
              <a:t>primeira</a:t>
            </a:r>
            <a:r>
              <a:rPr lang="pt-BR" sz="2397" spc="-9" dirty="0">
                <a:latin typeface="Tahoma"/>
                <a:cs typeface="Tahoma"/>
              </a:rPr>
              <a:t> ocorrencia)</a:t>
            </a:r>
            <a:endParaRPr sz="2397" dirty="0">
              <a:latin typeface="Tahoma"/>
              <a:cs typeface="Tahoma"/>
            </a:endParaRPr>
          </a:p>
          <a:p>
            <a:pPr marL="187872" indent="-176346">
              <a:spcBef>
                <a:spcPts val="326"/>
              </a:spcBef>
              <a:buFont typeface="Arial MT"/>
              <a:buChar char="•"/>
              <a:tabLst>
                <a:tab pos="187872" algn="l"/>
              </a:tabLst>
            </a:pPr>
            <a:r>
              <a:rPr lang="pt-BR" sz="2397" dirty="0">
                <a:latin typeface="Tahoma"/>
                <a:cs typeface="Tahoma"/>
              </a:rPr>
              <a:t>Forma </a:t>
            </a:r>
            <a:r>
              <a:rPr sz="2397" spc="-9" dirty="0" err="1">
                <a:latin typeface="Tahoma"/>
                <a:cs typeface="Tahoma"/>
              </a:rPr>
              <a:t>antig</a:t>
            </a:r>
            <a:r>
              <a:rPr lang="pt-BR" sz="2397" spc="-9" dirty="0">
                <a:latin typeface="Tahoma"/>
                <a:cs typeface="Tahoma"/>
              </a:rPr>
              <a:t>a</a:t>
            </a:r>
            <a:endParaRPr sz="2397" dirty="0">
              <a:latin typeface="Tahoma"/>
              <a:cs typeface="Tahoma"/>
            </a:endParaRPr>
          </a:p>
          <a:p>
            <a:pPr marL="11526">
              <a:spcBef>
                <a:spcPts val="304"/>
              </a:spcBef>
            </a:pPr>
            <a:endParaRPr lang="pt-BR" sz="1864" dirty="0">
              <a:latin typeface="Courier New"/>
              <a:cs typeface="Courier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4FDD4-CDC7-DCE2-2A47-6C5F49C5471C}"/>
              </a:ext>
            </a:extLst>
          </p:cNvPr>
          <p:cNvSpPr txBox="1"/>
          <p:nvPr/>
        </p:nvSpPr>
        <p:spPr>
          <a:xfrm>
            <a:off x="1428163" y="1619730"/>
            <a:ext cx="9843048" cy="46823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[ 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{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'joão'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}, 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{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'josé'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}, 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{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'maria'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];  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864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864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864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sz="1864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864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++) {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1864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nome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pt-BR" sz="1864" dirty="0">
                <a:solidFill>
                  <a:srgbClr val="CE9178"/>
                </a:solidFill>
                <a:latin typeface="Consolas" panose="020B0609020204030204" pitchFamily="49" charset="0"/>
              </a:rPr>
              <a:t>'josé'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1864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864" dirty="0">
                <a:solidFill>
                  <a:srgbClr val="6A9955"/>
                </a:solidFill>
                <a:latin typeface="Consolas" panose="020B0609020204030204" pitchFamily="49" charset="0"/>
              </a:rPr>
              <a:t>// evita percorrer o restante da lista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864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864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864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1864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1864" dirty="0">
                <a:solidFill>
                  <a:srgbClr val="6A9955"/>
                </a:solidFill>
                <a:latin typeface="Consolas" panose="020B0609020204030204" pitchFamily="49" charset="0"/>
              </a:rPr>
              <a:t>// {nome: 'josé', idade: 18}</a:t>
            </a:r>
            <a:endParaRPr lang="pt-BR" sz="1864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37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86DDAD-08B6-7374-D012-CAEA37953568}"/>
              </a:ext>
            </a:extLst>
          </p:cNvPr>
          <p:cNvSpPr txBox="1"/>
          <p:nvPr/>
        </p:nvSpPr>
        <p:spPr>
          <a:xfrm>
            <a:off x="210466" y="1877151"/>
            <a:ext cx="8117978" cy="30433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find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'josé'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{nome:’josé', idade:18} 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9637" y="185563"/>
            <a:ext cx="2383178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100" dirty="0"/>
              <a:t>Find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416" y="800565"/>
            <a:ext cx="9335674" cy="694249"/>
          </a:xfrm>
          <a:prstGeom prst="rect">
            <a:avLst/>
          </a:prstGeom>
        </p:spPr>
        <p:txBody>
          <a:bodyPr vert="horz" wrap="square" lIns="0" tIns="25357" rIns="0" bIns="0" rtlCol="0">
            <a:spAutoFit/>
          </a:bodyPr>
          <a:lstStyle/>
          <a:p>
            <a:pPr marL="187297" indent="-175771">
              <a:spcBef>
                <a:spcPts val="200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spc="-32" dirty="0">
                <a:latin typeface="Tahoma"/>
                <a:cs typeface="Tahoma"/>
              </a:rPr>
              <a:t>Para</a:t>
            </a:r>
            <a:r>
              <a:rPr sz="2131" spc="-45" dirty="0"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encontrar</a:t>
            </a:r>
            <a:r>
              <a:rPr sz="2131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um</a:t>
            </a:r>
            <a:r>
              <a:rPr sz="2131" spc="-6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item</a:t>
            </a:r>
            <a:r>
              <a:rPr sz="2131" spc="-5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41" dirty="0">
                <a:latin typeface="Tahoma"/>
                <a:cs typeface="Tahoma"/>
              </a:rPr>
              <a:t>específico</a:t>
            </a:r>
            <a:r>
              <a:rPr sz="2131" spc="-59" dirty="0"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dentro</a:t>
            </a:r>
            <a:r>
              <a:rPr sz="2131" spc="-55" dirty="0">
                <a:latin typeface="Tahoma"/>
                <a:cs typeface="Tahoma"/>
              </a:rPr>
              <a:t> </a:t>
            </a:r>
            <a:r>
              <a:rPr sz="2131" spc="96" dirty="0">
                <a:latin typeface="Tahoma"/>
                <a:cs typeface="Tahoma"/>
              </a:rPr>
              <a:t>de</a:t>
            </a:r>
            <a:r>
              <a:rPr sz="2131" spc="-41" dirty="0"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um</a:t>
            </a:r>
            <a:r>
              <a:rPr sz="2131" spc="-64" dirty="0">
                <a:latin typeface="Tahoma"/>
                <a:cs typeface="Tahoma"/>
              </a:rPr>
              <a:t> </a:t>
            </a:r>
            <a:r>
              <a:rPr sz="2131" spc="-9" dirty="0">
                <a:latin typeface="Tahoma"/>
                <a:cs typeface="Tahoma"/>
              </a:rPr>
              <a:t>array.</a:t>
            </a:r>
            <a:r>
              <a:rPr lang="pt-BR" sz="2131" spc="-9" dirty="0">
                <a:latin typeface="Tahoma"/>
                <a:cs typeface="Tahoma"/>
              </a:rPr>
              <a:t> (</a:t>
            </a:r>
            <a:r>
              <a:rPr lang="pt-BR" sz="2131" spc="-9" dirty="0">
                <a:solidFill>
                  <a:srgbClr val="FF0000"/>
                </a:solidFill>
                <a:latin typeface="Tahoma"/>
                <a:cs typeface="Tahoma"/>
              </a:rPr>
              <a:t>primeira</a:t>
            </a:r>
            <a:r>
              <a:rPr lang="pt-BR" sz="2131" spc="-9" dirty="0">
                <a:latin typeface="Tahoma"/>
                <a:cs typeface="Tahoma"/>
              </a:rPr>
              <a:t> ocorrencia)</a:t>
            </a:r>
            <a:endParaRPr sz="2131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spc="45" dirty="0">
                <a:latin typeface="Tahoma"/>
                <a:cs typeface="Tahoma"/>
              </a:rPr>
              <a:t>Usando</a:t>
            </a:r>
            <a:r>
              <a:rPr sz="2131" spc="-127" dirty="0">
                <a:latin typeface="Tahoma"/>
                <a:cs typeface="Tahoma"/>
              </a:rPr>
              <a:t> </a:t>
            </a:r>
            <a:r>
              <a:rPr sz="2131" spc="100" dirty="0">
                <a:latin typeface="Tahoma"/>
                <a:cs typeface="Tahoma"/>
              </a:rPr>
              <a:t>o</a:t>
            </a:r>
            <a:r>
              <a:rPr sz="2131" spc="-119" dirty="0">
                <a:latin typeface="Tahoma"/>
                <a:cs typeface="Tahoma"/>
              </a:rPr>
              <a:t> </a:t>
            </a:r>
            <a:r>
              <a:rPr sz="2131" spc="32" dirty="0">
                <a:latin typeface="Tahoma"/>
                <a:cs typeface="Tahoma"/>
              </a:rPr>
              <a:t>Find</a:t>
            </a:r>
            <a:endParaRPr sz="2131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8768" y="4548405"/>
            <a:ext cx="1819387" cy="20707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6">
              <a:spcBef>
                <a:spcPts val="91"/>
              </a:spcBef>
            </a:pPr>
            <a:r>
              <a:rPr sz="1270" b="1" dirty="0">
                <a:solidFill>
                  <a:srgbClr val="3D7C5E"/>
                </a:solidFill>
                <a:latin typeface="Courier New"/>
                <a:cs typeface="Courier New"/>
              </a:rPr>
              <a:t>primeira</a:t>
            </a:r>
            <a:r>
              <a:rPr sz="1270" b="1" spc="-172" dirty="0">
                <a:solidFill>
                  <a:srgbClr val="3D7C5E"/>
                </a:solidFill>
                <a:latin typeface="Courier New"/>
                <a:cs typeface="Courier New"/>
              </a:rPr>
              <a:t> </a:t>
            </a:r>
            <a:r>
              <a:rPr sz="1270" b="1" spc="-9" dirty="0">
                <a:solidFill>
                  <a:srgbClr val="3D7C5E"/>
                </a:solidFill>
                <a:latin typeface="Courier New"/>
                <a:cs typeface="Courier New"/>
              </a:rPr>
              <a:t>ocorrência</a:t>
            </a:r>
            <a:endParaRPr sz="1270" dirty="0">
              <a:latin typeface="Courier New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62D073-3E13-0151-41F1-D96B36B66D33}"/>
              </a:ext>
            </a:extLst>
          </p:cNvPr>
          <p:cNvSpPr txBox="1"/>
          <p:nvPr/>
        </p:nvSpPr>
        <p:spPr>
          <a:xfrm>
            <a:off x="8531393" y="1530650"/>
            <a:ext cx="4464888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>
                <a:solidFill>
                  <a:srgbClr val="404040"/>
                </a:solidFill>
                <a:latin typeface="DeepSeek-CJK-patch"/>
              </a:rPr>
              <a:t>O elemento atual sendo processado no array</a:t>
            </a:r>
            <a:endParaRPr lang="pt-BR" sz="2397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F9958E-CBFC-F49F-C6DE-AC2CFE59000C}"/>
              </a:ext>
            </a:extLst>
          </p:cNvPr>
          <p:cNvCxnSpPr>
            <a:cxnSpLocks/>
          </p:cNvCxnSpPr>
          <p:nvPr/>
        </p:nvCxnSpPr>
        <p:spPr>
          <a:xfrm flipV="1">
            <a:off x="6603373" y="1927942"/>
            <a:ext cx="1928020" cy="1516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93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86DDAD-08B6-7374-D012-CAEA37953568}"/>
              </a:ext>
            </a:extLst>
          </p:cNvPr>
          <p:cNvSpPr txBox="1"/>
          <p:nvPr/>
        </p:nvSpPr>
        <p:spPr>
          <a:xfrm>
            <a:off x="210465" y="1877151"/>
            <a:ext cx="10038840" cy="34122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{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{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{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}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find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{ nome: 'josé', idade: 18 }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9637" y="185563"/>
            <a:ext cx="2383178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100" dirty="0"/>
              <a:t>Find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49305" y="4838810"/>
            <a:ext cx="1819387" cy="20707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6">
              <a:spcBef>
                <a:spcPts val="91"/>
              </a:spcBef>
            </a:pPr>
            <a:r>
              <a:rPr sz="1270" b="1" dirty="0">
                <a:solidFill>
                  <a:srgbClr val="3D7C5E"/>
                </a:solidFill>
                <a:latin typeface="Courier New"/>
                <a:cs typeface="Courier New"/>
              </a:rPr>
              <a:t>primeira</a:t>
            </a:r>
            <a:r>
              <a:rPr sz="1270" b="1" spc="-172" dirty="0">
                <a:solidFill>
                  <a:srgbClr val="3D7C5E"/>
                </a:solidFill>
                <a:latin typeface="Courier New"/>
                <a:cs typeface="Courier New"/>
              </a:rPr>
              <a:t> </a:t>
            </a:r>
            <a:r>
              <a:rPr sz="1270" b="1" spc="-9" dirty="0">
                <a:solidFill>
                  <a:srgbClr val="3D7C5E"/>
                </a:solidFill>
                <a:latin typeface="Courier New"/>
                <a:cs typeface="Courier New"/>
              </a:rPr>
              <a:t>ocorrência</a:t>
            </a:r>
            <a:endParaRPr sz="1270" dirty="0">
              <a:latin typeface="Courier New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62D073-3E13-0151-41F1-D96B36B66D33}"/>
              </a:ext>
            </a:extLst>
          </p:cNvPr>
          <p:cNvSpPr txBox="1"/>
          <p:nvPr/>
        </p:nvSpPr>
        <p:spPr>
          <a:xfrm>
            <a:off x="8511098" y="1106975"/>
            <a:ext cx="4464888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>
                <a:solidFill>
                  <a:srgbClr val="404040"/>
                </a:solidFill>
                <a:latin typeface="DeepSeek-CJK-patch"/>
              </a:rPr>
              <a:t>O elemento atual sendo processado no array</a:t>
            </a:r>
            <a:endParaRPr lang="pt-BR" sz="2397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F9958E-CBFC-F49F-C6DE-AC2CFE59000C}"/>
              </a:ext>
            </a:extLst>
          </p:cNvPr>
          <p:cNvCxnSpPr>
            <a:cxnSpLocks/>
          </p:cNvCxnSpPr>
          <p:nvPr/>
        </p:nvCxnSpPr>
        <p:spPr>
          <a:xfrm flipV="1">
            <a:off x="6603373" y="1927942"/>
            <a:ext cx="1928020" cy="1516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">
            <a:extLst>
              <a:ext uri="{FF2B5EF4-FFF2-40B4-BE49-F238E27FC236}">
                <a16:creationId xmlns:a16="http://schemas.microsoft.com/office/drawing/2014/main" id="{2D0EE28C-B5D4-911E-E127-5616FDB7EF8F}"/>
              </a:ext>
            </a:extLst>
          </p:cNvPr>
          <p:cNvSpPr txBox="1"/>
          <p:nvPr/>
        </p:nvSpPr>
        <p:spPr>
          <a:xfrm>
            <a:off x="413416" y="800565"/>
            <a:ext cx="9335674" cy="694249"/>
          </a:xfrm>
          <a:prstGeom prst="rect">
            <a:avLst/>
          </a:prstGeom>
        </p:spPr>
        <p:txBody>
          <a:bodyPr vert="horz" wrap="square" lIns="0" tIns="25357" rIns="0" bIns="0" rtlCol="0">
            <a:spAutoFit/>
          </a:bodyPr>
          <a:lstStyle/>
          <a:p>
            <a:pPr marL="187297" indent="-175771">
              <a:spcBef>
                <a:spcPts val="200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spc="-32" dirty="0">
                <a:latin typeface="Tahoma"/>
                <a:cs typeface="Tahoma"/>
              </a:rPr>
              <a:t>Para</a:t>
            </a:r>
            <a:r>
              <a:rPr sz="2131" spc="-45" dirty="0"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encontrar</a:t>
            </a:r>
            <a:r>
              <a:rPr sz="2131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um</a:t>
            </a:r>
            <a:r>
              <a:rPr sz="2131" spc="-6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item</a:t>
            </a:r>
            <a:r>
              <a:rPr sz="2131" spc="-5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spc="41" dirty="0">
                <a:latin typeface="Tahoma"/>
                <a:cs typeface="Tahoma"/>
              </a:rPr>
              <a:t>específico</a:t>
            </a:r>
            <a:r>
              <a:rPr sz="2131" spc="-59" dirty="0"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dentro</a:t>
            </a:r>
            <a:r>
              <a:rPr sz="2131" spc="-55" dirty="0">
                <a:latin typeface="Tahoma"/>
                <a:cs typeface="Tahoma"/>
              </a:rPr>
              <a:t> </a:t>
            </a:r>
            <a:r>
              <a:rPr sz="2131" spc="96" dirty="0">
                <a:latin typeface="Tahoma"/>
                <a:cs typeface="Tahoma"/>
              </a:rPr>
              <a:t>de</a:t>
            </a:r>
            <a:r>
              <a:rPr sz="2131" spc="-41" dirty="0"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um</a:t>
            </a:r>
            <a:r>
              <a:rPr sz="2131" spc="-64" dirty="0">
                <a:latin typeface="Tahoma"/>
                <a:cs typeface="Tahoma"/>
              </a:rPr>
              <a:t> </a:t>
            </a:r>
            <a:r>
              <a:rPr sz="2131" spc="-9" dirty="0">
                <a:latin typeface="Tahoma"/>
                <a:cs typeface="Tahoma"/>
              </a:rPr>
              <a:t>array.</a:t>
            </a:r>
            <a:r>
              <a:rPr lang="pt-BR" sz="2131" spc="-9" dirty="0">
                <a:latin typeface="Tahoma"/>
                <a:cs typeface="Tahoma"/>
              </a:rPr>
              <a:t> (</a:t>
            </a:r>
            <a:r>
              <a:rPr lang="pt-BR" sz="2131" spc="-9" dirty="0">
                <a:solidFill>
                  <a:srgbClr val="FF0000"/>
                </a:solidFill>
                <a:latin typeface="Tahoma"/>
                <a:cs typeface="Tahoma"/>
              </a:rPr>
              <a:t>primeira</a:t>
            </a:r>
            <a:r>
              <a:rPr lang="pt-BR" sz="2131" spc="-9" dirty="0">
                <a:latin typeface="Tahoma"/>
                <a:cs typeface="Tahoma"/>
              </a:rPr>
              <a:t> ocorrencia)</a:t>
            </a:r>
            <a:endParaRPr sz="2131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spc="45" dirty="0">
                <a:latin typeface="Tahoma"/>
                <a:cs typeface="Tahoma"/>
              </a:rPr>
              <a:t>Usando</a:t>
            </a:r>
            <a:r>
              <a:rPr sz="2131" spc="-127" dirty="0">
                <a:latin typeface="Tahoma"/>
                <a:cs typeface="Tahoma"/>
              </a:rPr>
              <a:t> </a:t>
            </a:r>
            <a:r>
              <a:rPr sz="2131" spc="100" dirty="0">
                <a:latin typeface="Tahoma"/>
                <a:cs typeface="Tahoma"/>
              </a:rPr>
              <a:t>o</a:t>
            </a:r>
            <a:r>
              <a:rPr sz="2131" spc="-119" dirty="0">
                <a:latin typeface="Tahoma"/>
                <a:cs typeface="Tahoma"/>
              </a:rPr>
              <a:t> </a:t>
            </a:r>
            <a:r>
              <a:rPr sz="2131" spc="32" dirty="0">
                <a:latin typeface="Tahoma"/>
                <a:cs typeface="Tahoma"/>
              </a:rPr>
              <a:t>Find</a:t>
            </a:r>
            <a:endParaRPr sz="213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42655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6689" y="125821"/>
            <a:ext cx="2687601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lang="pt-BR" spc="-23" dirty="0"/>
              <a:t>Every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5214" y="895650"/>
            <a:ext cx="7253963" cy="911592"/>
          </a:xfrm>
          <a:prstGeom prst="rect">
            <a:avLst/>
          </a:prstGeom>
        </p:spPr>
        <p:txBody>
          <a:bodyPr vert="horz" wrap="square" lIns="0" tIns="53019" rIns="0" bIns="0" rtlCol="0">
            <a:spAutoFit/>
          </a:bodyPr>
          <a:lstStyle/>
          <a:p>
            <a:pPr marL="187872" indent="-176346">
              <a:spcBef>
                <a:spcPts val="417"/>
              </a:spcBef>
              <a:buFont typeface="Arial MT"/>
              <a:buChar char="•"/>
              <a:tabLst>
                <a:tab pos="187872" algn="l"/>
              </a:tabLst>
            </a:pPr>
            <a:r>
              <a:rPr sz="2663" dirty="0">
                <a:latin typeface="Tahoma"/>
                <a:cs typeface="Tahoma"/>
              </a:rPr>
              <a:t>Verificar</a:t>
            </a:r>
            <a:r>
              <a:rPr sz="2663" spc="-36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se</a:t>
            </a:r>
            <a:r>
              <a:rPr sz="2663" spc="-32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um</a:t>
            </a:r>
            <a:r>
              <a:rPr sz="2663" spc="-68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Array</a:t>
            </a:r>
            <a:r>
              <a:rPr sz="2663" spc="-27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respeita</a:t>
            </a:r>
            <a:r>
              <a:rPr sz="2663" spc="-32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uma</a:t>
            </a:r>
            <a:r>
              <a:rPr sz="2663" spc="-36" dirty="0">
                <a:latin typeface="Tahoma"/>
                <a:cs typeface="Tahoma"/>
              </a:rPr>
              <a:t> </a:t>
            </a:r>
            <a:r>
              <a:rPr sz="2663" spc="-9" dirty="0">
                <a:latin typeface="Tahoma"/>
                <a:cs typeface="Tahoma"/>
              </a:rPr>
              <a:t>condição</a:t>
            </a:r>
            <a:endParaRPr sz="2663" dirty="0">
              <a:latin typeface="Tahoma"/>
              <a:cs typeface="Tahoma"/>
            </a:endParaRPr>
          </a:p>
          <a:p>
            <a:pPr marL="187872" indent="-176346">
              <a:spcBef>
                <a:spcPts val="326"/>
              </a:spcBef>
              <a:buFont typeface="Arial MT"/>
              <a:buChar char="•"/>
              <a:tabLst>
                <a:tab pos="187872" algn="l"/>
              </a:tabLst>
            </a:pPr>
            <a:r>
              <a:rPr lang="pt-BR" sz="2663" dirty="0">
                <a:latin typeface="Tahoma"/>
                <a:cs typeface="Tahoma"/>
              </a:rPr>
              <a:t>Forma até aqui</a:t>
            </a:r>
            <a:r>
              <a:rPr sz="2663" spc="-9" dirty="0">
                <a:latin typeface="Tahoma"/>
                <a:cs typeface="Tahoma"/>
              </a:rPr>
              <a:t>:</a:t>
            </a:r>
            <a:endParaRPr sz="2663" dirty="0">
              <a:latin typeface="Tahom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5E3CE-EA5C-9A88-3ACE-A05ED398660C}"/>
              </a:ext>
            </a:extLst>
          </p:cNvPr>
          <p:cNvSpPr txBox="1"/>
          <p:nvPr/>
        </p:nvSpPr>
        <p:spPr>
          <a:xfrm>
            <a:off x="1225213" y="1805405"/>
            <a:ext cx="9132725" cy="40267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[ 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{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CE9178"/>
                </a:solidFill>
                <a:latin typeface="Consolas" panose="020B0609020204030204" pitchFamily="49" charset="0"/>
              </a:rPr>
              <a:t>'joão'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}, 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{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CE9178"/>
                </a:solidFill>
                <a:latin typeface="Consolas" panose="020B0609020204030204" pitchFamily="49" charset="0"/>
              </a:rPr>
              <a:t>'josé'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}, 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{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CE9178"/>
                </a:solidFill>
                <a:latin typeface="Consolas" panose="020B0609020204030204" pitchFamily="49" charset="0"/>
              </a:rPr>
              <a:t>'maria'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598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598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598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++) { 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1598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idade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1598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1598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1598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1598" dirty="0">
                <a:solidFill>
                  <a:srgbClr val="6A9955"/>
                </a:solidFill>
                <a:latin typeface="Consolas" panose="020B0609020204030204" pitchFamily="49" charset="0"/>
              </a:rPr>
              <a:t>// evita percorrer o restante da lista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1598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1598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598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1598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1598" dirty="0">
                <a:solidFill>
                  <a:srgbClr val="6A9955"/>
                </a:solidFill>
                <a:latin typeface="Consolas" panose="020B0609020204030204" pitchFamily="49" charset="0"/>
              </a:rPr>
              <a:t>// false (porque joão tem 15)</a:t>
            </a:r>
            <a:endParaRPr lang="pt-BR" sz="1598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38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537" y="222547"/>
            <a:ext cx="2383176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23" dirty="0"/>
              <a:t>Every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2588" y="786757"/>
            <a:ext cx="7001499" cy="1549933"/>
          </a:xfrm>
          <a:prstGeom prst="rect">
            <a:avLst/>
          </a:prstGeom>
        </p:spPr>
        <p:txBody>
          <a:bodyPr vert="horz" wrap="square" lIns="0" tIns="25357" rIns="0" bIns="0" rtlCol="0">
            <a:spAutoFit/>
          </a:bodyPr>
          <a:lstStyle/>
          <a:p>
            <a:pPr marL="187297" indent="-175771">
              <a:spcBef>
                <a:spcPts val="200"/>
              </a:spcBef>
              <a:buFont typeface="Arial MT"/>
              <a:buChar char="•"/>
              <a:tabLst>
                <a:tab pos="187297" algn="l"/>
              </a:tabLst>
            </a:pPr>
            <a:r>
              <a:rPr sz="2663" dirty="0">
                <a:solidFill>
                  <a:srgbClr val="FF0000"/>
                </a:solidFill>
                <a:latin typeface="Tahoma"/>
                <a:cs typeface="Tahoma"/>
              </a:rPr>
              <a:t>Verificar</a:t>
            </a:r>
            <a:r>
              <a:rPr sz="2663" spc="-5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dirty="0">
                <a:solidFill>
                  <a:srgbClr val="FF0000"/>
                </a:solidFill>
                <a:latin typeface="Tahoma"/>
                <a:cs typeface="Tahoma"/>
              </a:rPr>
              <a:t>se</a:t>
            </a:r>
            <a:r>
              <a:rPr sz="2663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dirty="0">
                <a:solidFill>
                  <a:srgbClr val="FF0000"/>
                </a:solidFill>
                <a:latin typeface="Tahoma"/>
                <a:cs typeface="Tahoma"/>
              </a:rPr>
              <a:t>um</a:t>
            </a:r>
            <a:r>
              <a:rPr sz="2663" spc="-10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dirty="0">
                <a:solidFill>
                  <a:srgbClr val="FF0000"/>
                </a:solidFill>
                <a:latin typeface="Tahoma"/>
                <a:cs typeface="Tahoma"/>
              </a:rPr>
              <a:t>Array</a:t>
            </a:r>
            <a:r>
              <a:rPr sz="2663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respeita</a:t>
            </a:r>
            <a:r>
              <a:rPr sz="2663" spc="-55" dirty="0">
                <a:latin typeface="Tahoma"/>
                <a:cs typeface="Tahoma"/>
              </a:rPr>
              <a:t> </a:t>
            </a:r>
            <a:r>
              <a:rPr sz="2663" dirty="0">
                <a:latin typeface="Tahoma"/>
                <a:cs typeface="Tahoma"/>
              </a:rPr>
              <a:t>uma</a:t>
            </a:r>
            <a:r>
              <a:rPr sz="2663" spc="-55" dirty="0">
                <a:latin typeface="Tahoma"/>
                <a:cs typeface="Tahoma"/>
              </a:rPr>
              <a:t> </a:t>
            </a:r>
            <a:r>
              <a:rPr sz="2663" spc="45" dirty="0">
                <a:latin typeface="Tahoma"/>
                <a:cs typeface="Tahoma"/>
              </a:rPr>
              <a:t>condição</a:t>
            </a:r>
            <a:endParaRPr sz="2663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r>
              <a:rPr sz="2663" spc="109" dirty="0">
                <a:latin typeface="Tahoma"/>
                <a:cs typeface="Tahoma"/>
              </a:rPr>
              <a:t>Com</a:t>
            </a:r>
            <a:r>
              <a:rPr sz="2663" spc="-141" dirty="0">
                <a:latin typeface="Tahoma"/>
                <a:cs typeface="Tahoma"/>
              </a:rPr>
              <a:t> </a:t>
            </a:r>
            <a:r>
              <a:rPr sz="2663" spc="-9" dirty="0">
                <a:latin typeface="Tahoma"/>
                <a:cs typeface="Tahoma"/>
              </a:rPr>
              <a:t>every()</a:t>
            </a:r>
            <a:endParaRPr lang="pt-BR" sz="2663" spc="-9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endParaRPr sz="2663" dirty="0">
              <a:latin typeface="Tahoma"/>
              <a:cs typeface="Tahoma"/>
            </a:endParaRPr>
          </a:p>
          <a:p>
            <a:pPr marL="11526">
              <a:lnSpc>
                <a:spcPts val="1992"/>
              </a:lnSpc>
              <a:spcBef>
                <a:spcPts val="109"/>
              </a:spcBef>
            </a:pPr>
            <a:endParaRPr lang="pt-BR" sz="1598" dirty="0">
              <a:latin typeface="Courier New"/>
              <a:cs typeface="Courier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935AA-302A-7C2F-082D-43D88DFFD711}"/>
              </a:ext>
            </a:extLst>
          </p:cNvPr>
          <p:cNvSpPr txBox="1"/>
          <p:nvPr/>
        </p:nvSpPr>
        <p:spPr>
          <a:xfrm>
            <a:off x="1732587" y="1703931"/>
            <a:ext cx="9031250" cy="415004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every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false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14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537" y="222547"/>
            <a:ext cx="2383176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23" dirty="0"/>
              <a:t>Every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35537" y="993607"/>
            <a:ext cx="7001499" cy="1975434"/>
          </a:xfrm>
          <a:prstGeom prst="rect">
            <a:avLst/>
          </a:prstGeom>
        </p:spPr>
        <p:txBody>
          <a:bodyPr vert="horz" wrap="square" lIns="0" tIns="25357" rIns="0" bIns="0" rtlCol="0">
            <a:spAutoFit/>
          </a:bodyPr>
          <a:lstStyle/>
          <a:p>
            <a:pPr marL="187297" indent="-175771">
              <a:spcBef>
                <a:spcPts val="200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Verificar</a:t>
            </a:r>
            <a:r>
              <a:rPr sz="2131" spc="-5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se</a:t>
            </a:r>
            <a:r>
              <a:rPr sz="213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um</a:t>
            </a:r>
            <a:r>
              <a:rPr sz="2131" spc="-10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solidFill>
                  <a:srgbClr val="FF0000"/>
                </a:solidFill>
                <a:latin typeface="Tahoma"/>
                <a:cs typeface="Tahoma"/>
              </a:rPr>
              <a:t>Array</a:t>
            </a:r>
            <a:r>
              <a:rPr sz="213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respeita</a:t>
            </a:r>
            <a:r>
              <a:rPr sz="2131" spc="-55" dirty="0">
                <a:latin typeface="Tahoma"/>
                <a:cs typeface="Tahoma"/>
              </a:rPr>
              <a:t> </a:t>
            </a:r>
            <a:r>
              <a:rPr sz="2131" dirty="0">
                <a:latin typeface="Tahoma"/>
                <a:cs typeface="Tahoma"/>
              </a:rPr>
              <a:t>uma</a:t>
            </a:r>
            <a:r>
              <a:rPr sz="2131" spc="-55" dirty="0">
                <a:latin typeface="Tahoma"/>
                <a:cs typeface="Tahoma"/>
              </a:rPr>
              <a:t> </a:t>
            </a:r>
            <a:r>
              <a:rPr sz="2131" spc="45" dirty="0">
                <a:latin typeface="Tahoma"/>
                <a:cs typeface="Tahoma"/>
              </a:rPr>
              <a:t>condição</a:t>
            </a:r>
            <a:endParaRPr sz="2131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r>
              <a:rPr sz="2131" spc="109" dirty="0">
                <a:latin typeface="Tahoma"/>
                <a:cs typeface="Tahoma"/>
              </a:rPr>
              <a:t>Com</a:t>
            </a:r>
            <a:r>
              <a:rPr sz="2131" spc="-141" dirty="0">
                <a:latin typeface="Tahoma"/>
                <a:cs typeface="Tahoma"/>
              </a:rPr>
              <a:t> </a:t>
            </a:r>
            <a:r>
              <a:rPr sz="2131" spc="-9" dirty="0">
                <a:latin typeface="Tahoma"/>
                <a:cs typeface="Tahoma"/>
              </a:rPr>
              <a:t>every()</a:t>
            </a:r>
            <a:endParaRPr lang="pt-BR" sz="2131" spc="-9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r>
              <a:rPr lang="pt-BR" sz="2131" spc="-9" dirty="0">
                <a:latin typeface="Tahoma"/>
                <a:cs typeface="Tahoma"/>
              </a:rPr>
              <a:t>Com arrow function</a:t>
            </a: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endParaRPr lang="pt-BR" sz="2131" spc="-9" dirty="0">
              <a:latin typeface="Tahoma"/>
              <a:cs typeface="Tahoma"/>
            </a:endParaRPr>
          </a:p>
          <a:p>
            <a:pPr marL="187297" indent="-175771">
              <a:spcBef>
                <a:spcPts val="109"/>
              </a:spcBef>
              <a:buFont typeface="Arial MT"/>
              <a:buChar char="•"/>
              <a:tabLst>
                <a:tab pos="187297" algn="l"/>
              </a:tabLst>
            </a:pPr>
            <a:endParaRPr sz="2131" dirty="0">
              <a:latin typeface="Tahoma"/>
              <a:cs typeface="Tahoma"/>
            </a:endParaRPr>
          </a:p>
          <a:p>
            <a:pPr marL="11526">
              <a:lnSpc>
                <a:spcPts val="1992"/>
              </a:lnSpc>
              <a:spcBef>
                <a:spcPts val="109"/>
              </a:spcBef>
            </a:pPr>
            <a:endParaRPr lang="pt-BR" sz="1398" dirty="0">
              <a:latin typeface="Courier New"/>
              <a:cs typeface="Courier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935AA-302A-7C2F-082D-43D88DFFD711}"/>
              </a:ext>
            </a:extLst>
          </p:cNvPr>
          <p:cNvSpPr txBox="1"/>
          <p:nvPr/>
        </p:nvSpPr>
        <p:spPr>
          <a:xfrm>
            <a:off x="1732587" y="2025241"/>
            <a:ext cx="9031250" cy="45189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{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"joão"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{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"josé"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  {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nome: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CE9178"/>
                </a:solidFill>
                <a:latin typeface="Consolas" panose="020B0609020204030204" pitchFamily="49" charset="0"/>
              </a:rPr>
              <a:t>"maria"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idade: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}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every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aluno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idade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todosAlunosMaiores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false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97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9227" y="1237294"/>
            <a:ext cx="1875803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55" dirty="0"/>
              <a:t>Some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7011" y="1999463"/>
            <a:ext cx="7252191" cy="733006"/>
          </a:xfrm>
          <a:prstGeom prst="rect">
            <a:avLst/>
          </a:prstGeom>
        </p:spPr>
        <p:txBody>
          <a:bodyPr vert="horz" wrap="square" lIns="0" tIns="36307" rIns="0" bIns="0" rtlCol="0">
            <a:spAutoFit/>
          </a:bodyPr>
          <a:lstStyle/>
          <a:p>
            <a:pPr marL="187297" indent="-175771">
              <a:spcBef>
                <a:spcPts val="286"/>
              </a:spcBef>
              <a:buFont typeface="Arial MT"/>
              <a:buChar char="•"/>
              <a:tabLst>
                <a:tab pos="187297" algn="l"/>
              </a:tabLst>
            </a:pPr>
            <a:r>
              <a:rPr sz="2179" dirty="0">
                <a:latin typeface="Tahoma"/>
                <a:cs typeface="Tahoma"/>
              </a:rPr>
              <a:t>Verificar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se</a:t>
            </a:r>
            <a:r>
              <a:rPr sz="2179" spc="-100" dirty="0">
                <a:latin typeface="Tahoma"/>
                <a:cs typeface="Tahoma"/>
              </a:rPr>
              <a:t> </a:t>
            </a:r>
            <a:r>
              <a:rPr sz="2179" spc="64" dirty="0">
                <a:solidFill>
                  <a:srgbClr val="FF0000"/>
                </a:solidFill>
                <a:latin typeface="Tahoma"/>
                <a:cs typeface="Tahoma"/>
              </a:rPr>
              <a:t>algum</a:t>
            </a:r>
            <a:r>
              <a:rPr sz="2179" spc="-1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79" spc="59" dirty="0">
                <a:solidFill>
                  <a:srgbClr val="FF0000"/>
                </a:solidFill>
                <a:latin typeface="Tahoma"/>
                <a:cs typeface="Tahoma"/>
              </a:rPr>
              <a:t>elemento</a:t>
            </a:r>
            <a:r>
              <a:rPr sz="2179" spc="-1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79" spc="154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2179" spc="-149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79" dirty="0">
                <a:solidFill>
                  <a:srgbClr val="FF0000"/>
                </a:solidFill>
                <a:latin typeface="Tahoma"/>
                <a:cs typeface="Tahoma"/>
              </a:rPr>
              <a:t>Array</a:t>
            </a:r>
            <a:r>
              <a:rPr sz="2179" spc="-10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79" spc="-19" dirty="0">
                <a:latin typeface="Tahoma"/>
                <a:cs typeface="Tahoma"/>
              </a:rPr>
              <a:t>satisfaz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a</a:t>
            </a:r>
            <a:r>
              <a:rPr sz="2179" spc="-96" dirty="0">
                <a:latin typeface="Tahoma"/>
                <a:cs typeface="Tahoma"/>
              </a:rPr>
              <a:t> </a:t>
            </a:r>
            <a:r>
              <a:rPr sz="2179" spc="73" dirty="0">
                <a:latin typeface="Tahoma"/>
                <a:cs typeface="Tahoma"/>
              </a:rPr>
              <a:t>condição</a:t>
            </a:r>
            <a:endParaRPr sz="2179" dirty="0">
              <a:latin typeface="Tahoma"/>
              <a:cs typeface="Tahoma"/>
            </a:endParaRPr>
          </a:p>
          <a:p>
            <a:pPr marL="187297" indent="-175771">
              <a:spcBef>
                <a:spcPts val="196"/>
              </a:spcBef>
              <a:buFont typeface="Arial MT"/>
              <a:buChar char="•"/>
              <a:tabLst>
                <a:tab pos="187297" algn="l"/>
              </a:tabLst>
            </a:pPr>
            <a:r>
              <a:rPr sz="2179" spc="73" dirty="0" err="1">
                <a:latin typeface="Tahoma"/>
                <a:cs typeface="Tahoma"/>
              </a:rPr>
              <a:t>Jeito</a:t>
            </a:r>
            <a:r>
              <a:rPr sz="2179" spc="-132" dirty="0">
                <a:latin typeface="Tahoma"/>
                <a:cs typeface="Tahoma"/>
              </a:rPr>
              <a:t> </a:t>
            </a:r>
            <a:r>
              <a:rPr sz="2179" spc="45" dirty="0" err="1">
                <a:latin typeface="Tahoma"/>
                <a:cs typeface="Tahoma"/>
              </a:rPr>
              <a:t>antigo</a:t>
            </a:r>
            <a:endParaRPr sz="2179" dirty="0">
              <a:latin typeface="Tahom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FB6C5-D79A-A925-FB52-3D8044F31EB0}"/>
              </a:ext>
            </a:extLst>
          </p:cNvPr>
          <p:cNvSpPr txBox="1"/>
          <p:nvPr/>
        </p:nvSpPr>
        <p:spPr>
          <a:xfrm>
            <a:off x="1834062" y="2921627"/>
            <a:ext cx="8117978" cy="30433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21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29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 </a:t>
            </a: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++) { </a:t>
            </a:r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 &gt;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 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//true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631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6688" y="324021"/>
            <a:ext cx="1672855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55" dirty="0"/>
              <a:t>Some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9638" y="1095082"/>
            <a:ext cx="7249886" cy="805231"/>
          </a:xfrm>
          <a:prstGeom prst="rect">
            <a:avLst/>
          </a:prstGeom>
        </p:spPr>
        <p:txBody>
          <a:bodyPr vert="horz" wrap="square" lIns="0" tIns="69733" rIns="0" bIns="0" rtlCol="0">
            <a:spAutoFit/>
          </a:bodyPr>
          <a:lstStyle/>
          <a:p>
            <a:pPr marL="187297" indent="-175771">
              <a:spcBef>
                <a:spcPts val="549"/>
              </a:spcBef>
              <a:buFont typeface="Arial MT"/>
              <a:buChar char="•"/>
              <a:tabLst>
                <a:tab pos="187297" algn="l"/>
              </a:tabLst>
            </a:pPr>
            <a:r>
              <a:rPr sz="2179" dirty="0">
                <a:latin typeface="Tahoma"/>
                <a:cs typeface="Tahoma"/>
              </a:rPr>
              <a:t>Verificar</a:t>
            </a:r>
            <a:r>
              <a:rPr sz="2179" spc="-87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se</a:t>
            </a:r>
            <a:r>
              <a:rPr sz="2179" spc="-96" dirty="0">
                <a:latin typeface="Tahoma"/>
                <a:cs typeface="Tahoma"/>
              </a:rPr>
              <a:t> </a:t>
            </a:r>
            <a:r>
              <a:rPr sz="2179" spc="64" dirty="0">
                <a:latin typeface="Tahoma"/>
                <a:cs typeface="Tahoma"/>
              </a:rPr>
              <a:t>algum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spc="59" dirty="0">
                <a:latin typeface="Tahoma"/>
                <a:cs typeface="Tahoma"/>
              </a:rPr>
              <a:t>elemento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spc="154" dirty="0">
                <a:latin typeface="Tahoma"/>
                <a:cs typeface="Tahoma"/>
              </a:rPr>
              <a:t>do</a:t>
            </a:r>
            <a:r>
              <a:rPr sz="2179" spc="-145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Array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spc="-23" dirty="0">
                <a:latin typeface="Tahoma"/>
                <a:cs typeface="Tahoma"/>
              </a:rPr>
              <a:t>satisfaz</a:t>
            </a:r>
            <a:r>
              <a:rPr sz="2179" spc="-91" dirty="0">
                <a:latin typeface="Tahoma"/>
                <a:cs typeface="Tahoma"/>
              </a:rPr>
              <a:t> </a:t>
            </a:r>
            <a:r>
              <a:rPr sz="2179" dirty="0">
                <a:latin typeface="Tahoma"/>
                <a:cs typeface="Tahoma"/>
              </a:rPr>
              <a:t>a</a:t>
            </a:r>
            <a:r>
              <a:rPr sz="2179" spc="-87" dirty="0">
                <a:latin typeface="Tahoma"/>
                <a:cs typeface="Tahoma"/>
              </a:rPr>
              <a:t> </a:t>
            </a:r>
            <a:r>
              <a:rPr sz="2179" spc="73" dirty="0">
                <a:latin typeface="Tahoma"/>
                <a:cs typeface="Tahoma"/>
              </a:rPr>
              <a:t>condição</a:t>
            </a:r>
            <a:endParaRPr sz="2179" dirty="0">
              <a:latin typeface="Tahoma"/>
              <a:cs typeface="Tahoma"/>
            </a:endParaRPr>
          </a:p>
          <a:p>
            <a:pPr marL="187297" indent="-175771">
              <a:spcBef>
                <a:spcPts val="454"/>
              </a:spcBef>
              <a:buFont typeface="Arial MT"/>
              <a:buChar char="•"/>
              <a:tabLst>
                <a:tab pos="187297" algn="l"/>
              </a:tabLst>
            </a:pPr>
            <a:r>
              <a:rPr sz="2179" spc="68" dirty="0" err="1">
                <a:latin typeface="Tahoma"/>
                <a:cs typeface="Tahoma"/>
              </a:rPr>
              <a:t>Usando</a:t>
            </a:r>
            <a:r>
              <a:rPr sz="2179" spc="-149" dirty="0">
                <a:latin typeface="Tahoma"/>
                <a:cs typeface="Tahoma"/>
              </a:rPr>
              <a:t> </a:t>
            </a:r>
            <a:r>
              <a:rPr sz="2179" spc="45" dirty="0">
                <a:latin typeface="Tahoma"/>
                <a:cs typeface="Tahoma"/>
              </a:rPr>
              <a:t>some</a:t>
            </a:r>
            <a:endParaRPr sz="2179" dirty="0">
              <a:latin typeface="Tahom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977E4-A477-69E5-D14B-1B3FA0118540}"/>
              </a:ext>
            </a:extLst>
          </p:cNvPr>
          <p:cNvSpPr txBox="1"/>
          <p:nvPr/>
        </p:nvSpPr>
        <p:spPr>
          <a:xfrm>
            <a:off x="514890" y="2103111"/>
            <a:ext cx="11365169" cy="19367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21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29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some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pesoDaMala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pt-BR" sz="2397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pesoDaMala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 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//true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D37F-4966-54C9-E879-D87C1A6ED57F}"/>
              </a:ext>
            </a:extLst>
          </p:cNvPr>
          <p:cNvSpPr txBox="1"/>
          <p:nvPr/>
        </p:nvSpPr>
        <p:spPr>
          <a:xfrm>
            <a:off x="514890" y="4748172"/>
            <a:ext cx="11365169" cy="19367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4FC1FF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12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32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21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29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4FC1FF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pesoDasMalas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some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pt-BR" sz="2397" dirty="0">
                <a:solidFill>
                  <a:srgbClr val="B5CEA8"/>
                </a:solidFill>
                <a:latin typeface="Consolas" panose="020B0609020204030204" pitchFamily="49" charset="0"/>
              </a:rPr>
              <a:t>30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t-BR" sz="2397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sz="2397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397" dirty="0">
                <a:solidFill>
                  <a:srgbClr val="9CDCFE"/>
                </a:solidFill>
                <a:latin typeface="Consolas" panose="020B0609020204030204" pitchFamily="49" charset="0"/>
              </a:rPr>
              <a:t>temMalaAcimaDoPeso</a:t>
            </a:r>
            <a:r>
              <a:rPr lang="pt-BR" sz="2397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pt-BR" sz="2397" dirty="0">
                <a:solidFill>
                  <a:srgbClr val="6A9955"/>
                </a:solidFill>
                <a:latin typeface="Consolas" panose="020B0609020204030204" pitchFamily="49" charset="0"/>
              </a:rPr>
              <a:t>// true</a:t>
            </a:r>
            <a:endParaRPr lang="pt-BR" sz="2397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675ABEC-96E3-B956-4A08-9902B765F8F8}"/>
              </a:ext>
            </a:extLst>
          </p:cNvPr>
          <p:cNvSpPr txBox="1"/>
          <p:nvPr/>
        </p:nvSpPr>
        <p:spPr>
          <a:xfrm>
            <a:off x="1123739" y="4286367"/>
            <a:ext cx="7249886" cy="405762"/>
          </a:xfrm>
          <a:prstGeom prst="rect">
            <a:avLst/>
          </a:prstGeom>
        </p:spPr>
        <p:txBody>
          <a:bodyPr vert="horz" wrap="square" lIns="0" tIns="69733" rIns="0" bIns="0" rtlCol="0">
            <a:spAutoFit/>
          </a:bodyPr>
          <a:lstStyle/>
          <a:p>
            <a:pPr marL="187297" indent="-175771">
              <a:spcBef>
                <a:spcPts val="549"/>
              </a:spcBef>
              <a:buFont typeface="Arial MT"/>
              <a:buChar char="•"/>
              <a:tabLst>
                <a:tab pos="187297" algn="l"/>
              </a:tabLst>
            </a:pPr>
            <a:r>
              <a:rPr lang="pt-BR" sz="2179" dirty="0">
                <a:latin typeface="Tahoma"/>
                <a:cs typeface="Tahoma"/>
              </a:rPr>
              <a:t>Com Arrow Function</a:t>
            </a:r>
            <a:endParaRPr sz="2179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29201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30042" y="2183651"/>
            <a:ext cx="5671393" cy="3694676"/>
          </a:xfrm>
          <a:custGeom>
            <a:avLst/>
            <a:gdLst/>
            <a:ahLst/>
            <a:cxnLst/>
            <a:rect l="l" t="t" r="r" b="b"/>
            <a:pathLst>
              <a:path w="6249034" h="4070985">
                <a:moveTo>
                  <a:pt x="6248619" y="0"/>
                </a:moveTo>
                <a:lnTo>
                  <a:pt x="0" y="0"/>
                </a:lnTo>
                <a:lnTo>
                  <a:pt x="0" y="4070467"/>
                </a:lnTo>
                <a:lnTo>
                  <a:pt x="6248619" y="4070467"/>
                </a:lnTo>
                <a:lnTo>
                  <a:pt x="62486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pt-BR" sz="1634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76664" y="728183"/>
            <a:ext cx="2789075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91" dirty="0"/>
              <a:t>Reduce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14014" y="1421655"/>
            <a:ext cx="7308530" cy="3652382"/>
          </a:xfrm>
          <a:prstGeom prst="rect">
            <a:avLst/>
          </a:prstGeom>
        </p:spPr>
        <p:txBody>
          <a:bodyPr vert="horz" wrap="square" lIns="0" tIns="57630" rIns="0" bIns="0" rtlCol="0">
            <a:spAutoFit/>
          </a:bodyPr>
          <a:lstStyle/>
          <a:p>
            <a:pPr marL="186720" marR="180381" indent="-175771">
              <a:lnSpc>
                <a:spcPts val="2269"/>
              </a:lnSpc>
              <a:spcBef>
                <a:spcPts val="454"/>
              </a:spcBef>
              <a:buFont typeface="Arial MT"/>
              <a:buChar char="•"/>
              <a:tabLst>
                <a:tab pos="187872" algn="l"/>
              </a:tabLst>
            </a:pPr>
            <a:r>
              <a:rPr spc="49" dirty="0"/>
              <a:t>Soma</a:t>
            </a:r>
            <a:r>
              <a:rPr spc="-23" dirty="0"/>
              <a:t> </a:t>
            </a:r>
            <a:r>
              <a:rPr spc="87" dirty="0"/>
              <a:t>ou</a:t>
            </a:r>
            <a:r>
              <a:rPr spc="-32" dirty="0"/>
              <a:t> </a:t>
            </a:r>
            <a:r>
              <a:rPr dirty="0"/>
              <a:t>concatenação,</a:t>
            </a:r>
            <a:r>
              <a:rPr spc="-96" dirty="0"/>
              <a:t> </a:t>
            </a:r>
            <a:r>
              <a:rPr spc="73" dirty="0"/>
              <a:t>definindo</a:t>
            </a:r>
            <a:r>
              <a:rPr spc="-27" dirty="0"/>
              <a:t> </a:t>
            </a:r>
            <a:r>
              <a:rPr spc="41" dirty="0"/>
              <a:t>um 	</a:t>
            </a:r>
            <a:r>
              <a:rPr dirty="0"/>
              <a:t>valor</a:t>
            </a:r>
            <a:r>
              <a:rPr spc="-13" dirty="0"/>
              <a:t> </a:t>
            </a:r>
            <a:r>
              <a:rPr spc="-9" dirty="0"/>
              <a:t>inicial</a:t>
            </a:r>
          </a:p>
          <a:p>
            <a:pPr marL="11526" marR="2484991">
              <a:lnSpc>
                <a:spcPts val="2179"/>
              </a:lnSpc>
              <a:spcBef>
                <a:spcPts val="149"/>
              </a:spcBef>
            </a:pPr>
            <a:r>
              <a:rPr sz="1598" dirty="0">
                <a:solidFill>
                  <a:srgbClr val="7C0054"/>
                </a:solidFill>
                <a:latin typeface="Courier New"/>
                <a:cs typeface="Courier New"/>
              </a:rPr>
              <a:t>var</a:t>
            </a:r>
            <a:r>
              <a:rPr sz="1598" spc="132" dirty="0">
                <a:solidFill>
                  <a:srgbClr val="7C0054"/>
                </a:solidFill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numeros</a:t>
            </a:r>
            <a:r>
              <a:rPr sz="1598" spc="132" dirty="0"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=</a:t>
            </a:r>
            <a:r>
              <a:rPr sz="1598" spc="132" dirty="0">
                <a:latin typeface="Courier New"/>
                <a:cs typeface="Courier New"/>
              </a:rPr>
              <a:t> </a:t>
            </a:r>
            <a:r>
              <a:rPr sz="1598" spc="-9" dirty="0">
                <a:latin typeface="Courier New"/>
                <a:cs typeface="Courier New"/>
              </a:rPr>
              <a:t>[1,2,3,4,5];</a:t>
            </a:r>
            <a:endParaRPr lang="pt-BR" sz="1598" spc="-9" dirty="0">
              <a:latin typeface="Courier New"/>
              <a:cs typeface="Courier New"/>
            </a:endParaRPr>
          </a:p>
          <a:p>
            <a:pPr marL="11526" marR="2484991">
              <a:lnSpc>
                <a:spcPts val="2179"/>
              </a:lnSpc>
              <a:spcBef>
                <a:spcPts val="149"/>
              </a:spcBef>
            </a:pPr>
            <a:r>
              <a:rPr sz="1598" dirty="0">
                <a:solidFill>
                  <a:srgbClr val="7C0054"/>
                </a:solidFill>
                <a:latin typeface="Courier New"/>
                <a:cs typeface="Courier New"/>
              </a:rPr>
              <a:t>var</a:t>
            </a:r>
            <a:r>
              <a:rPr sz="1598" spc="104" dirty="0">
                <a:solidFill>
                  <a:srgbClr val="7C0054"/>
                </a:solidFill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soma</a:t>
            </a:r>
            <a:r>
              <a:rPr sz="1598" spc="104" dirty="0"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=</a:t>
            </a:r>
            <a:r>
              <a:rPr sz="1598" spc="104" dirty="0">
                <a:latin typeface="Courier New"/>
                <a:cs typeface="Courier New"/>
              </a:rPr>
              <a:t> </a:t>
            </a:r>
            <a:r>
              <a:rPr sz="1598" spc="-23" dirty="0">
                <a:latin typeface="Courier New"/>
                <a:cs typeface="Courier New"/>
              </a:rPr>
              <a:t>0;</a:t>
            </a:r>
            <a:endParaRPr sz="1598" dirty="0">
              <a:latin typeface="Courier New"/>
              <a:cs typeface="Courier New"/>
            </a:endParaRPr>
          </a:p>
          <a:p>
            <a:pPr marL="413780" marR="572262" indent="-402831">
              <a:lnSpc>
                <a:spcPts val="2179"/>
              </a:lnSpc>
            </a:pPr>
            <a:r>
              <a:rPr sz="1598" dirty="0">
                <a:latin typeface="Courier New"/>
                <a:cs typeface="Courier New"/>
              </a:rPr>
              <a:t>soma</a:t>
            </a:r>
            <a:r>
              <a:rPr sz="1598" spc="332" dirty="0"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=</a:t>
            </a:r>
            <a:r>
              <a:rPr sz="1598" spc="341" dirty="0"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numeros.reduce(</a:t>
            </a:r>
            <a:r>
              <a:rPr sz="1598" dirty="0">
                <a:solidFill>
                  <a:srgbClr val="7C0054"/>
                </a:solidFill>
                <a:latin typeface="Courier New"/>
                <a:cs typeface="Courier New"/>
              </a:rPr>
              <a:t>function</a:t>
            </a:r>
            <a:r>
              <a:rPr sz="1598" dirty="0">
                <a:latin typeface="Courier New"/>
                <a:cs typeface="Courier New"/>
              </a:rPr>
              <a:t>(</a:t>
            </a:r>
            <a:r>
              <a:rPr lang="pt-BR" sz="1598" dirty="0">
                <a:latin typeface="Courier New"/>
                <a:cs typeface="Courier New"/>
              </a:rPr>
              <a:t>soma</a:t>
            </a:r>
            <a:r>
              <a:rPr sz="1598" dirty="0">
                <a:latin typeface="Courier New"/>
                <a:cs typeface="Courier New"/>
              </a:rPr>
              <a:t>,</a:t>
            </a:r>
            <a:r>
              <a:rPr sz="1598" spc="341" dirty="0">
                <a:latin typeface="Courier New"/>
                <a:cs typeface="Courier New"/>
              </a:rPr>
              <a:t> </a:t>
            </a:r>
            <a:r>
              <a:rPr sz="1598" spc="-9" dirty="0">
                <a:latin typeface="Courier New"/>
                <a:cs typeface="Courier New"/>
              </a:rPr>
              <a:t>numero){ </a:t>
            </a:r>
            <a:endParaRPr lang="pt-BR" sz="1598" spc="-9" dirty="0">
              <a:latin typeface="Courier New"/>
              <a:cs typeface="Courier New"/>
            </a:endParaRPr>
          </a:p>
          <a:p>
            <a:pPr marL="413780" marR="572262" indent="-402831">
              <a:lnSpc>
                <a:spcPts val="2179"/>
              </a:lnSpc>
            </a:pPr>
            <a:r>
              <a:rPr lang="pt-BR" sz="1598" spc="-9" dirty="0">
                <a:solidFill>
                  <a:srgbClr val="7C0054"/>
                </a:solidFill>
                <a:latin typeface="Courier New"/>
                <a:cs typeface="Courier New"/>
              </a:rPr>
              <a:t>	</a:t>
            </a:r>
            <a:r>
              <a:rPr sz="1598" dirty="0">
                <a:solidFill>
                  <a:srgbClr val="7C0054"/>
                </a:solidFill>
                <a:latin typeface="Courier New"/>
                <a:cs typeface="Courier New"/>
              </a:rPr>
              <a:t>return</a:t>
            </a:r>
            <a:r>
              <a:rPr sz="1598" spc="123" dirty="0">
                <a:solidFill>
                  <a:srgbClr val="7C0054"/>
                </a:solidFill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soma</a:t>
            </a:r>
            <a:r>
              <a:rPr sz="1598" spc="132" dirty="0">
                <a:latin typeface="Courier New"/>
                <a:cs typeface="Courier New"/>
              </a:rPr>
              <a:t> </a:t>
            </a:r>
            <a:r>
              <a:rPr sz="1598" dirty="0">
                <a:latin typeface="Courier New"/>
                <a:cs typeface="Courier New"/>
              </a:rPr>
              <a:t>+</a:t>
            </a:r>
            <a:r>
              <a:rPr sz="1598" spc="132" dirty="0">
                <a:latin typeface="Courier New"/>
                <a:cs typeface="Courier New"/>
              </a:rPr>
              <a:t> </a:t>
            </a:r>
            <a:r>
              <a:rPr sz="1598" spc="-9" dirty="0">
                <a:latin typeface="Courier New"/>
                <a:cs typeface="Courier New"/>
              </a:rPr>
              <a:t>numero;</a:t>
            </a:r>
            <a:endParaRPr sz="1598" dirty="0">
              <a:latin typeface="Courier New"/>
              <a:cs typeface="Courier New"/>
            </a:endParaRPr>
          </a:p>
          <a:p>
            <a:pPr marL="11526">
              <a:spcBef>
                <a:spcPts val="471"/>
              </a:spcBef>
            </a:pPr>
            <a:r>
              <a:rPr sz="1598" dirty="0">
                <a:latin typeface="Courier New"/>
                <a:cs typeface="Courier New"/>
              </a:rPr>
              <a:t>},</a:t>
            </a:r>
            <a:r>
              <a:rPr sz="1598" spc="87" dirty="0">
                <a:latin typeface="Courier New"/>
                <a:cs typeface="Courier New"/>
              </a:rPr>
              <a:t> </a:t>
            </a:r>
            <a:r>
              <a:rPr sz="1598" spc="-23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sz="1598" spc="-23" dirty="0">
                <a:latin typeface="Courier New"/>
                <a:cs typeface="Courier New"/>
              </a:rPr>
              <a:t>);</a:t>
            </a:r>
            <a:endParaRPr sz="1598" dirty="0">
              <a:latin typeface="Courier New"/>
              <a:cs typeface="Courier New"/>
            </a:endParaRPr>
          </a:p>
          <a:p>
            <a:pPr marL="11526">
              <a:spcBef>
                <a:spcPts val="739"/>
              </a:spcBef>
            </a:pPr>
            <a:r>
              <a:rPr sz="1598" dirty="0">
                <a:solidFill>
                  <a:srgbClr val="07712C"/>
                </a:solidFill>
                <a:latin typeface="Courier New"/>
                <a:cs typeface="Courier New"/>
              </a:rPr>
              <a:t>console</a:t>
            </a:r>
            <a:r>
              <a:rPr sz="1598" dirty="0">
                <a:latin typeface="Courier New"/>
                <a:cs typeface="Courier New"/>
              </a:rPr>
              <a:t>.log(soma);</a:t>
            </a:r>
            <a:r>
              <a:rPr sz="1598" spc="304" dirty="0">
                <a:latin typeface="Courier New"/>
                <a:cs typeface="Courier New"/>
              </a:rPr>
              <a:t> </a:t>
            </a:r>
            <a:r>
              <a:rPr sz="1598" dirty="0">
                <a:solidFill>
                  <a:srgbClr val="07712C"/>
                </a:solidFill>
                <a:latin typeface="Courier New"/>
                <a:cs typeface="Courier New"/>
              </a:rPr>
              <a:t>//</a:t>
            </a:r>
            <a:r>
              <a:rPr sz="1598" spc="304" dirty="0">
                <a:solidFill>
                  <a:srgbClr val="07712C"/>
                </a:solidFill>
                <a:latin typeface="Courier New"/>
                <a:cs typeface="Courier New"/>
              </a:rPr>
              <a:t> </a:t>
            </a:r>
            <a:r>
              <a:rPr sz="1598" spc="-23" dirty="0">
                <a:solidFill>
                  <a:srgbClr val="07712C"/>
                </a:solidFill>
                <a:latin typeface="Courier New"/>
                <a:cs typeface="Courier New"/>
              </a:rPr>
              <a:t>15</a:t>
            </a:r>
            <a:endParaRPr sz="1598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70" dirty="0">
              <a:latin typeface="Courier New"/>
              <a:cs typeface="Courier New"/>
            </a:endParaRPr>
          </a:p>
          <a:p>
            <a:pPr>
              <a:spcBef>
                <a:spcPts val="286"/>
              </a:spcBef>
            </a:pPr>
            <a:endParaRPr sz="1270" dirty="0">
              <a:latin typeface="Courier New"/>
              <a:cs typeface="Courier New"/>
            </a:endParaRPr>
          </a:p>
          <a:p>
            <a:pPr marL="187872" marR="4610" indent="-176923">
              <a:lnSpc>
                <a:spcPts val="1525"/>
              </a:lnSpc>
              <a:spcBef>
                <a:spcPts val="4"/>
              </a:spcBef>
              <a:buFont typeface="Arial MT"/>
              <a:buChar char="•"/>
              <a:tabLst>
                <a:tab pos="187872" algn="l"/>
              </a:tabLst>
            </a:pPr>
            <a:r>
              <a:rPr sz="1361" spc="9" dirty="0">
                <a:solidFill>
                  <a:srgbClr val="C00000"/>
                </a:solidFill>
              </a:rPr>
              <a:t>function</a:t>
            </a:r>
            <a:r>
              <a:rPr sz="1361" spc="9" dirty="0"/>
              <a:t>(soma,</a:t>
            </a:r>
            <a:r>
              <a:rPr sz="1361" spc="-13" dirty="0"/>
              <a:t> </a:t>
            </a:r>
            <a:r>
              <a:rPr sz="1361" spc="9" dirty="0"/>
              <a:t>numero):</a:t>
            </a:r>
            <a:r>
              <a:rPr sz="1361" spc="45" dirty="0"/>
              <a:t> </a:t>
            </a:r>
            <a:r>
              <a:rPr sz="1361" spc="9" dirty="0"/>
              <a:t>função</a:t>
            </a:r>
            <a:r>
              <a:rPr sz="1361" spc="64" dirty="0"/>
              <a:t> </a:t>
            </a:r>
            <a:r>
              <a:rPr sz="1361" spc="91" dirty="0"/>
              <a:t>de</a:t>
            </a:r>
            <a:r>
              <a:rPr sz="1361" spc="59" dirty="0"/>
              <a:t> </a:t>
            </a:r>
            <a:r>
              <a:rPr sz="1361" spc="9" dirty="0"/>
              <a:t>iteração</a:t>
            </a:r>
            <a:r>
              <a:rPr sz="1361" spc="64" dirty="0"/>
              <a:t> </a:t>
            </a:r>
            <a:r>
              <a:rPr sz="1361" spc="73" dirty="0"/>
              <a:t>com</a:t>
            </a:r>
            <a:r>
              <a:rPr sz="1361" spc="68" dirty="0"/>
              <a:t> </a:t>
            </a:r>
            <a:r>
              <a:rPr sz="1361" spc="45" dirty="0"/>
              <a:t>acumulador </a:t>
            </a:r>
            <a:r>
              <a:rPr sz="1361" dirty="0"/>
              <a:t>param</a:t>
            </a:r>
            <a:r>
              <a:rPr sz="1361" spc="145" dirty="0"/>
              <a:t> </a:t>
            </a:r>
            <a:r>
              <a:rPr sz="1361" spc="-9" dirty="0"/>
              <a:t>iteração</a:t>
            </a:r>
            <a:endParaRPr sz="1361" dirty="0"/>
          </a:p>
          <a:p>
            <a:pPr marL="187872" indent="-176346">
              <a:spcBef>
                <a:spcPts val="617"/>
              </a:spcBef>
              <a:buFont typeface="Arial MT"/>
              <a:buChar char="•"/>
              <a:tabLst>
                <a:tab pos="187872" algn="l"/>
              </a:tabLst>
            </a:pPr>
            <a:r>
              <a:rPr sz="1361" dirty="0"/>
              <a:t>0</a:t>
            </a:r>
            <a:r>
              <a:rPr sz="1361" spc="-19" dirty="0"/>
              <a:t> </a:t>
            </a:r>
            <a:r>
              <a:rPr sz="1361" spc="-77" dirty="0"/>
              <a:t>:</a:t>
            </a:r>
            <a:r>
              <a:rPr sz="1361" spc="-32" dirty="0"/>
              <a:t> </a:t>
            </a:r>
            <a:r>
              <a:rPr sz="1361" spc="45" dirty="0"/>
              <a:t>um</a:t>
            </a:r>
            <a:r>
              <a:rPr sz="1361" spc="-13" dirty="0"/>
              <a:t> </a:t>
            </a:r>
            <a:r>
              <a:rPr sz="1361" dirty="0"/>
              <a:t>valor</a:t>
            </a:r>
            <a:r>
              <a:rPr sz="1361" spc="-23" dirty="0"/>
              <a:t> </a:t>
            </a:r>
            <a:r>
              <a:rPr sz="1361" spc="41" dirty="0"/>
              <a:t>inicial</a:t>
            </a:r>
            <a:r>
              <a:rPr sz="1361" spc="-36" dirty="0"/>
              <a:t> </a:t>
            </a:r>
            <a:r>
              <a:rPr sz="1361" spc="49" dirty="0"/>
              <a:t>qualquer</a:t>
            </a:r>
            <a:endParaRPr sz="1361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9519" y="2433400"/>
            <a:ext cx="3387853" cy="281650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9FB537-204B-2FA5-A2B8-D3241EA98CCE}"/>
              </a:ext>
            </a:extLst>
          </p:cNvPr>
          <p:cNvCxnSpPr>
            <a:cxnSpLocks/>
          </p:cNvCxnSpPr>
          <p:nvPr/>
        </p:nvCxnSpPr>
        <p:spPr>
          <a:xfrm>
            <a:off x="1123739" y="3429001"/>
            <a:ext cx="3348666" cy="153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04B917-BB26-1E92-45FE-4DA9877C07D1}"/>
              </a:ext>
            </a:extLst>
          </p:cNvPr>
          <p:cNvSpPr txBox="1"/>
          <p:nvPr/>
        </p:nvSpPr>
        <p:spPr>
          <a:xfrm>
            <a:off x="4252240" y="4967468"/>
            <a:ext cx="3809313" cy="461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397" dirty="0"/>
              <a:t>Valor inicial do acumulador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39EB24-CDB1-1AAA-A477-72B5BDE99349}"/>
              </a:ext>
            </a:extLst>
          </p:cNvPr>
          <p:cNvCxnSpPr/>
          <p:nvPr/>
        </p:nvCxnSpPr>
        <p:spPr>
          <a:xfrm flipV="1">
            <a:off x="5997858" y="1500980"/>
            <a:ext cx="2271661" cy="1116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82749F-1AB0-0D10-BB24-7220DE838DAA}"/>
              </a:ext>
            </a:extLst>
          </p:cNvPr>
          <p:cNvSpPr txBox="1"/>
          <p:nvPr/>
        </p:nvSpPr>
        <p:spPr>
          <a:xfrm>
            <a:off x="8269518" y="993607"/>
            <a:ext cx="3103168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/>
              <a:t>iterador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D8D292-94E3-A4B1-7E2A-014ED8D9F29E}"/>
              </a:ext>
            </a:extLst>
          </p:cNvPr>
          <p:cNvCxnSpPr/>
          <p:nvPr/>
        </p:nvCxnSpPr>
        <p:spPr>
          <a:xfrm flipV="1">
            <a:off x="4865739" y="1974337"/>
            <a:ext cx="3624887" cy="72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8664B8-0CB8-FDEE-C8E8-992F63E5123C}"/>
              </a:ext>
            </a:extLst>
          </p:cNvPr>
          <p:cNvSpPr txBox="1"/>
          <p:nvPr/>
        </p:nvSpPr>
        <p:spPr>
          <a:xfrm>
            <a:off x="8613130" y="1586190"/>
            <a:ext cx="1846283" cy="46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397" b="1" dirty="0">
                <a:solidFill>
                  <a:srgbClr val="404040"/>
                </a:solidFill>
                <a:latin typeface="DeepSeek-CJK-patch"/>
              </a:rPr>
              <a:t>acumulador</a:t>
            </a:r>
            <a:endParaRPr lang="pt-BR" sz="239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2486C-1EC4-1D89-F897-A3CDC9A1C4F7}"/>
              </a:ext>
            </a:extLst>
          </p:cNvPr>
          <p:cNvSpPr txBox="1"/>
          <p:nvPr/>
        </p:nvSpPr>
        <p:spPr>
          <a:xfrm>
            <a:off x="325142" y="5473045"/>
            <a:ext cx="11345431" cy="1198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397" dirty="0"/>
              <a:t>array.reduce((</a:t>
            </a:r>
            <a:r>
              <a:rPr lang="pt-BR" sz="2397" dirty="0">
                <a:solidFill>
                  <a:srgbClr val="FF0000"/>
                </a:solidFill>
              </a:rPr>
              <a:t>acumulador</a:t>
            </a:r>
            <a:r>
              <a:rPr lang="pt-BR" sz="2397" dirty="0"/>
              <a:t>, </a:t>
            </a:r>
            <a:r>
              <a:rPr lang="pt-BR" sz="2397" dirty="0">
                <a:solidFill>
                  <a:srgbClr val="148366"/>
                </a:solidFill>
              </a:rPr>
              <a:t>elementoAtual[, índice[, array]]</a:t>
            </a:r>
            <a:r>
              <a:rPr lang="pt-BR" sz="2397" dirty="0"/>
              <a:t>) =&gt; {</a:t>
            </a:r>
          </a:p>
          <a:p>
            <a:r>
              <a:rPr lang="pt-BR" sz="2397" dirty="0"/>
              <a:t>  // lógica</a:t>
            </a:r>
          </a:p>
          <a:p>
            <a:r>
              <a:rPr lang="pt-BR" sz="2397" dirty="0"/>
              <a:t>}, </a:t>
            </a:r>
            <a:r>
              <a:rPr lang="pt-BR" sz="2397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valorInicial</a:t>
            </a:r>
            <a:r>
              <a:rPr lang="pt-BR" sz="2397" dirty="0"/>
              <a:t>);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127A69-463F-516D-9D2D-F8F106FF0BD2}"/>
              </a:ext>
            </a:extLst>
          </p:cNvPr>
          <p:cNvCxnSpPr/>
          <p:nvPr/>
        </p:nvCxnSpPr>
        <p:spPr>
          <a:xfrm flipV="1">
            <a:off x="1022264" y="2617202"/>
            <a:ext cx="202949" cy="79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71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416" y="190648"/>
            <a:ext cx="9638306" cy="694186"/>
          </a:xfrm>
          <a:prstGeom prst="rect">
            <a:avLst/>
          </a:prstGeom>
        </p:spPr>
        <p:txBody>
          <a:bodyPr vert="horz" wrap="square" lIns="0" tIns="16912" rIns="0" bIns="0" rtlCol="0" anchor="ctr">
            <a:spAutoFit/>
          </a:bodyPr>
          <a:lstStyle/>
          <a:p>
            <a:pPr marL="16913">
              <a:lnSpc>
                <a:spcPct val="100000"/>
              </a:lnSpc>
              <a:spcBef>
                <a:spcPts val="133"/>
              </a:spcBef>
            </a:pPr>
            <a:r>
              <a:rPr lang="en-US" spc="-7" dirty="0" err="1"/>
              <a:t>Exemplo</a:t>
            </a:r>
            <a:r>
              <a:rPr lang="en-US" spc="-7" dirty="0"/>
              <a:t> reduce com arrow function</a:t>
            </a:r>
            <a:endParaRPr spc="-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4B2C6-58B8-3E26-97C1-A8DA74C5E0AB}"/>
              </a:ext>
            </a:extLst>
          </p:cNvPr>
          <p:cNvSpPr txBox="1"/>
          <p:nvPr/>
        </p:nvSpPr>
        <p:spPr>
          <a:xfrm>
            <a:off x="920789" y="1461659"/>
            <a:ext cx="10959270" cy="214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63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const</a:t>
            </a:r>
            <a:r>
              <a:rPr lang="pt-BR" sz="2663" dirty="0"/>
              <a:t> </a:t>
            </a:r>
            <a:r>
              <a:rPr lang="pt-BR" sz="2663" dirty="0" err="1"/>
              <a:t>numeros</a:t>
            </a:r>
            <a:r>
              <a:rPr lang="pt-BR" sz="2663" dirty="0"/>
              <a:t> = [1, 2, 3, 4, 5];</a:t>
            </a:r>
          </a:p>
          <a:p>
            <a:br>
              <a:rPr lang="pt-BR" sz="2663" dirty="0"/>
            </a:br>
            <a:r>
              <a:rPr lang="pt-BR" sz="2663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const</a:t>
            </a:r>
            <a:r>
              <a:rPr lang="pt-BR" sz="2663" dirty="0"/>
              <a:t> soma = </a:t>
            </a:r>
            <a:r>
              <a:rPr lang="pt-BR" sz="2663" dirty="0" err="1"/>
              <a:t>numeros.reduce</a:t>
            </a:r>
            <a:r>
              <a:rPr lang="pt-BR" sz="2663" dirty="0"/>
              <a:t>((</a:t>
            </a:r>
            <a:r>
              <a:rPr lang="pt-BR" sz="2663" i="1" dirty="0"/>
              <a:t>soma</a:t>
            </a:r>
            <a:r>
              <a:rPr lang="pt-BR" sz="2663" dirty="0"/>
              <a:t>, </a:t>
            </a:r>
            <a:r>
              <a:rPr lang="pt-BR" sz="2663" i="1" dirty="0"/>
              <a:t>numero</a:t>
            </a:r>
            <a:r>
              <a:rPr lang="pt-BR" sz="2663" dirty="0"/>
              <a:t>) </a:t>
            </a:r>
            <a:r>
              <a:rPr lang="pt-BR" sz="2663" dirty="0">
                <a:solidFill>
                  <a:srgbClr val="FF0000"/>
                </a:solidFill>
              </a:rPr>
              <a:t>=&gt;</a:t>
            </a:r>
            <a:r>
              <a:rPr lang="pt-BR" sz="2663" dirty="0"/>
              <a:t> soma + numero, 0);</a:t>
            </a:r>
          </a:p>
          <a:p>
            <a:br>
              <a:rPr lang="pt-BR" sz="2663" dirty="0"/>
            </a:br>
            <a:r>
              <a:rPr lang="pt-BR" sz="2663" dirty="0"/>
              <a:t>console.log(soma); </a:t>
            </a:r>
            <a:r>
              <a:rPr lang="pt-BR" sz="2663" i="1" dirty="0"/>
              <a:t>// 15</a:t>
            </a:r>
            <a:endParaRPr lang="pt-BR" sz="2663" dirty="0"/>
          </a:p>
        </p:txBody>
      </p:sp>
    </p:spTree>
    <p:extLst>
      <p:ext uri="{BB962C8B-B14F-4D97-AF65-F5344CB8AC3E}">
        <p14:creationId xmlns:p14="http://schemas.microsoft.com/office/powerpoint/2010/main" val="410293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9227" y="1198936"/>
            <a:ext cx="2281702" cy="624948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6">
              <a:spcBef>
                <a:spcPts val="91"/>
              </a:spcBef>
            </a:pPr>
            <a:r>
              <a:rPr spc="-91" dirty="0"/>
              <a:t>Reduce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56032" y="1923701"/>
            <a:ext cx="7079786" cy="304676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87297" indent="-175771">
              <a:spcBef>
                <a:spcPts val="200"/>
              </a:spcBef>
              <a:buFont typeface="Arial MT"/>
              <a:buChar char="•"/>
              <a:tabLst>
                <a:tab pos="187297" algn="l"/>
              </a:tabLst>
            </a:pPr>
            <a:r>
              <a:rPr lang="pt-BR" sz="1725" spc="45" dirty="0">
                <a:latin typeface="Tahoma"/>
                <a:cs typeface="Tahoma"/>
              </a:rPr>
              <a:t>Aplicação</a:t>
            </a:r>
            <a:endParaRPr lang="pt-BR" sz="1725" dirty="0">
              <a:latin typeface="Tahoma"/>
              <a:cs typeface="Tahoma"/>
            </a:endParaRPr>
          </a:p>
          <a:p>
            <a:pPr marL="11526">
              <a:lnSpc>
                <a:spcPts val="1992"/>
              </a:lnSpc>
              <a:spcBef>
                <a:spcPts val="109"/>
              </a:spcBef>
            </a:pPr>
            <a:r>
              <a:rPr lang="pt-BR" sz="1725" dirty="0">
                <a:solidFill>
                  <a:srgbClr val="7C0054"/>
                </a:solidFill>
                <a:latin typeface="Courier New"/>
                <a:cs typeface="Courier New"/>
              </a:rPr>
              <a:t>var</a:t>
            </a:r>
            <a:r>
              <a:rPr lang="pt-BR" sz="1725" spc="-64" dirty="0">
                <a:solidFill>
                  <a:srgbClr val="7C0054"/>
                </a:solidFill>
                <a:latin typeface="Courier New"/>
                <a:cs typeface="Courier New"/>
              </a:rPr>
              <a:t> </a:t>
            </a:r>
            <a:r>
              <a:rPr lang="pt-BR" sz="1725" dirty="0">
                <a:latin typeface="Courier New"/>
                <a:cs typeface="Courier New"/>
              </a:rPr>
              <a:t>alunos</a:t>
            </a:r>
            <a:r>
              <a:rPr lang="pt-BR" sz="1725" spc="-55" dirty="0">
                <a:latin typeface="Courier New"/>
                <a:cs typeface="Courier New"/>
              </a:rPr>
              <a:t> </a:t>
            </a:r>
            <a:r>
              <a:rPr lang="pt-BR" sz="1725" dirty="0">
                <a:latin typeface="Courier New"/>
                <a:cs typeface="Courier New"/>
              </a:rPr>
              <a:t>=</a:t>
            </a:r>
            <a:r>
              <a:rPr lang="pt-BR" sz="1725" spc="-55" dirty="0">
                <a:latin typeface="Courier New"/>
                <a:cs typeface="Courier New"/>
              </a:rPr>
              <a:t> </a:t>
            </a:r>
            <a:r>
              <a:rPr lang="pt-BR" sz="1725" spc="-45" dirty="0">
                <a:latin typeface="Courier New"/>
                <a:cs typeface="Courier New"/>
              </a:rPr>
              <a:t>[</a:t>
            </a:r>
            <a:endParaRPr lang="pt-BR" sz="1725" dirty="0">
              <a:latin typeface="Courier New"/>
              <a:cs typeface="Courier New"/>
            </a:endParaRPr>
          </a:p>
          <a:p>
            <a:pPr marL="531922">
              <a:lnSpc>
                <a:spcPts val="1860"/>
              </a:lnSpc>
            </a:pPr>
            <a:r>
              <a:rPr lang="pt-BR" sz="1725" dirty="0">
                <a:latin typeface="Courier New"/>
                <a:cs typeface="Courier New"/>
              </a:rPr>
              <a:t>{nome:</a:t>
            </a:r>
            <a:r>
              <a:rPr lang="pt-BR" sz="1725" dirty="0">
                <a:solidFill>
                  <a:srgbClr val="2800FF"/>
                </a:solidFill>
                <a:latin typeface="Courier New"/>
                <a:cs typeface="Courier New"/>
              </a:rPr>
              <a:t>'</a:t>
            </a:r>
            <a:r>
              <a:rPr lang="pt-BR" sz="1725" dirty="0" err="1">
                <a:solidFill>
                  <a:srgbClr val="2800FF"/>
                </a:solidFill>
                <a:latin typeface="Courier New"/>
                <a:cs typeface="Courier New"/>
              </a:rPr>
              <a:t>joão</a:t>
            </a:r>
            <a:r>
              <a:rPr lang="pt-BR" sz="1725" dirty="0">
                <a:solidFill>
                  <a:srgbClr val="2800FF"/>
                </a:solidFill>
                <a:latin typeface="Courier New"/>
                <a:cs typeface="Courier New"/>
              </a:rPr>
              <a:t>'</a:t>
            </a:r>
            <a:r>
              <a:rPr lang="pt-BR" sz="1725" dirty="0">
                <a:latin typeface="Courier New"/>
                <a:cs typeface="Courier New"/>
              </a:rPr>
              <a:t>,</a:t>
            </a:r>
            <a:r>
              <a:rPr lang="pt-BR" sz="1725" spc="-141" dirty="0">
                <a:latin typeface="Courier New"/>
                <a:cs typeface="Courier New"/>
              </a:rPr>
              <a:t> </a:t>
            </a:r>
            <a:r>
              <a:rPr lang="pt-BR" sz="1725" dirty="0">
                <a:latin typeface="Courier New"/>
                <a:cs typeface="Courier New"/>
              </a:rPr>
              <a:t>idade:</a:t>
            </a:r>
            <a:r>
              <a:rPr lang="pt-BR" sz="1725" spc="-136" dirty="0">
                <a:latin typeface="Courier New"/>
                <a:cs typeface="Courier New"/>
              </a:rPr>
              <a:t> </a:t>
            </a:r>
            <a:r>
              <a:rPr lang="pt-BR" sz="1725" spc="-19" dirty="0">
                <a:latin typeface="Courier New"/>
                <a:cs typeface="Courier New"/>
              </a:rPr>
              <a:t>10},</a:t>
            </a:r>
            <a:endParaRPr lang="pt-BR" sz="1725" dirty="0">
              <a:latin typeface="Courier New"/>
              <a:cs typeface="Courier New"/>
            </a:endParaRPr>
          </a:p>
          <a:p>
            <a:pPr marL="531922">
              <a:lnSpc>
                <a:spcPts val="1851"/>
              </a:lnSpc>
            </a:pPr>
            <a:r>
              <a:rPr lang="pt-BR" sz="1725" dirty="0">
                <a:latin typeface="Courier New"/>
                <a:cs typeface="Courier New"/>
              </a:rPr>
              <a:t>{nome:</a:t>
            </a:r>
            <a:r>
              <a:rPr lang="pt-BR" sz="1725" dirty="0">
                <a:solidFill>
                  <a:srgbClr val="2800FF"/>
                </a:solidFill>
                <a:latin typeface="Courier New"/>
                <a:cs typeface="Courier New"/>
              </a:rPr>
              <a:t>’</a:t>
            </a:r>
            <a:r>
              <a:rPr lang="pt-BR" sz="1725" dirty="0" err="1">
                <a:solidFill>
                  <a:srgbClr val="2800FF"/>
                </a:solidFill>
                <a:latin typeface="Courier New"/>
                <a:cs typeface="Courier New"/>
              </a:rPr>
              <a:t>josé</a:t>
            </a:r>
            <a:r>
              <a:rPr lang="pt-BR" sz="1725" dirty="0">
                <a:solidFill>
                  <a:srgbClr val="2800FF"/>
                </a:solidFill>
                <a:latin typeface="Courier New"/>
                <a:cs typeface="Courier New"/>
              </a:rPr>
              <a:t>'</a:t>
            </a:r>
            <a:r>
              <a:rPr lang="pt-BR" sz="1725" dirty="0">
                <a:latin typeface="Courier New"/>
                <a:cs typeface="Courier New"/>
              </a:rPr>
              <a:t>,</a:t>
            </a:r>
            <a:r>
              <a:rPr lang="pt-BR" sz="1725" spc="-141" dirty="0">
                <a:latin typeface="Courier New"/>
                <a:cs typeface="Courier New"/>
              </a:rPr>
              <a:t> </a:t>
            </a:r>
            <a:r>
              <a:rPr lang="pt-BR" sz="1725" dirty="0">
                <a:latin typeface="Courier New"/>
                <a:cs typeface="Courier New"/>
              </a:rPr>
              <a:t>idade:</a:t>
            </a:r>
            <a:r>
              <a:rPr lang="pt-BR" sz="1725" spc="-136" dirty="0">
                <a:latin typeface="Courier New"/>
                <a:cs typeface="Courier New"/>
              </a:rPr>
              <a:t> </a:t>
            </a:r>
            <a:r>
              <a:rPr lang="pt-BR" sz="1725" spc="-19" dirty="0">
                <a:latin typeface="Courier New"/>
                <a:cs typeface="Courier New"/>
              </a:rPr>
              <a:t>20},</a:t>
            </a:r>
            <a:endParaRPr lang="pt-BR" sz="1725" dirty="0">
              <a:latin typeface="Courier New"/>
              <a:cs typeface="Courier New"/>
            </a:endParaRPr>
          </a:p>
          <a:p>
            <a:pPr marL="531922">
              <a:lnSpc>
                <a:spcPts val="1983"/>
              </a:lnSpc>
            </a:pPr>
            <a:r>
              <a:rPr lang="pt-BR" sz="1725" dirty="0">
                <a:latin typeface="Courier New"/>
                <a:cs typeface="Courier New"/>
              </a:rPr>
              <a:t>{</a:t>
            </a:r>
            <a:r>
              <a:rPr lang="pt-BR" sz="1725" dirty="0" err="1">
                <a:latin typeface="Courier New"/>
                <a:cs typeface="Courier New"/>
              </a:rPr>
              <a:t>nome:</a:t>
            </a:r>
            <a:r>
              <a:rPr lang="pt-BR" sz="1725" dirty="0" err="1">
                <a:solidFill>
                  <a:srgbClr val="2800FF"/>
                </a:solidFill>
                <a:latin typeface="Courier New"/>
                <a:cs typeface="Courier New"/>
              </a:rPr>
              <a:t>’maria</a:t>
            </a:r>
            <a:r>
              <a:rPr lang="pt-BR" sz="1725" dirty="0">
                <a:solidFill>
                  <a:srgbClr val="2800FF"/>
                </a:solidFill>
                <a:latin typeface="Courier New"/>
                <a:cs typeface="Courier New"/>
              </a:rPr>
              <a:t>'</a:t>
            </a:r>
            <a:r>
              <a:rPr lang="pt-BR" sz="1725" dirty="0">
                <a:latin typeface="Courier New"/>
                <a:cs typeface="Courier New"/>
              </a:rPr>
              <a:t>,</a:t>
            </a:r>
            <a:r>
              <a:rPr lang="pt-BR" sz="1725" spc="-154" dirty="0">
                <a:latin typeface="Courier New"/>
                <a:cs typeface="Courier New"/>
              </a:rPr>
              <a:t> </a:t>
            </a:r>
            <a:r>
              <a:rPr lang="pt-BR" sz="1725" dirty="0">
                <a:latin typeface="Courier New"/>
                <a:cs typeface="Courier New"/>
              </a:rPr>
              <a:t>idade:</a:t>
            </a:r>
            <a:r>
              <a:rPr lang="pt-BR" sz="1725" spc="-145" dirty="0">
                <a:latin typeface="Courier New"/>
                <a:cs typeface="Courier New"/>
              </a:rPr>
              <a:t> </a:t>
            </a:r>
            <a:r>
              <a:rPr lang="pt-BR" sz="1725" spc="-9" dirty="0">
                <a:latin typeface="Courier New"/>
                <a:cs typeface="Courier New"/>
              </a:rPr>
              <a:t>30}];</a:t>
            </a:r>
            <a:endParaRPr lang="pt-BR" sz="1725" dirty="0">
              <a:latin typeface="Courier New"/>
              <a:cs typeface="Courier New"/>
            </a:endParaRPr>
          </a:p>
          <a:p>
            <a:pPr marL="531922" marR="4610" indent="-520972">
              <a:lnSpc>
                <a:spcPct val="105300"/>
              </a:lnSpc>
              <a:spcBef>
                <a:spcPts val="91"/>
              </a:spcBef>
            </a:pPr>
            <a:endParaRPr lang="pt-BR" sz="1725" dirty="0">
              <a:solidFill>
                <a:srgbClr val="7C0054"/>
              </a:solidFill>
              <a:latin typeface="Courier New"/>
              <a:cs typeface="Courier New"/>
            </a:endParaRPr>
          </a:p>
          <a:p>
            <a:pPr marL="531922" marR="4610" indent="-520972">
              <a:lnSpc>
                <a:spcPct val="105300"/>
              </a:lnSpc>
              <a:spcBef>
                <a:spcPts val="91"/>
              </a:spcBef>
            </a:pPr>
            <a:r>
              <a:rPr sz="1725" dirty="0">
                <a:solidFill>
                  <a:srgbClr val="7C0054"/>
                </a:solidFill>
                <a:latin typeface="Courier New"/>
                <a:cs typeface="Courier New"/>
              </a:rPr>
              <a:t>var</a:t>
            </a:r>
            <a:r>
              <a:rPr sz="1725" spc="-49" dirty="0">
                <a:solidFill>
                  <a:srgbClr val="7C0054"/>
                </a:solidFill>
                <a:latin typeface="Courier New"/>
                <a:cs typeface="Courier New"/>
              </a:rPr>
              <a:t> </a:t>
            </a:r>
            <a:r>
              <a:rPr sz="1725" dirty="0">
                <a:latin typeface="Courier New"/>
                <a:cs typeface="Courier New"/>
              </a:rPr>
              <a:t>nomes</a:t>
            </a:r>
            <a:r>
              <a:rPr sz="1725" spc="-49" dirty="0">
                <a:latin typeface="Courier New"/>
                <a:cs typeface="Courier New"/>
              </a:rPr>
              <a:t> </a:t>
            </a:r>
            <a:r>
              <a:rPr sz="1725" dirty="0">
                <a:latin typeface="Courier New"/>
                <a:cs typeface="Courier New"/>
              </a:rPr>
              <a:t>=</a:t>
            </a:r>
            <a:r>
              <a:rPr sz="1725" spc="-49" dirty="0">
                <a:latin typeface="Courier New"/>
                <a:cs typeface="Courier New"/>
              </a:rPr>
              <a:t> </a:t>
            </a:r>
            <a:r>
              <a:rPr sz="1725" spc="-9" dirty="0">
                <a:latin typeface="Courier New"/>
                <a:cs typeface="Courier New"/>
              </a:rPr>
              <a:t>alunos.reduce(</a:t>
            </a:r>
            <a:r>
              <a:rPr sz="1634" spc="-9" dirty="0">
                <a:solidFill>
                  <a:srgbClr val="7C0054"/>
                </a:solidFill>
                <a:latin typeface="Courier New"/>
                <a:cs typeface="Courier New"/>
              </a:rPr>
              <a:t>function</a:t>
            </a:r>
            <a:r>
              <a:rPr sz="1725" spc="-9" dirty="0">
                <a:latin typeface="Courier New"/>
                <a:cs typeface="Courier New"/>
              </a:rPr>
              <a:t>(</a:t>
            </a:r>
            <a:r>
              <a:rPr sz="1725" spc="-9" dirty="0" err="1">
                <a:latin typeface="Courier New"/>
                <a:cs typeface="Courier New"/>
              </a:rPr>
              <a:t>arrayNomes</a:t>
            </a:r>
            <a:r>
              <a:rPr sz="1725" spc="-9" dirty="0">
                <a:latin typeface="Courier New"/>
                <a:cs typeface="Courier New"/>
              </a:rPr>
              <a:t>,</a:t>
            </a:r>
            <a:r>
              <a:rPr lang="pt-BR" sz="1725" spc="-9" dirty="0">
                <a:latin typeface="Courier New"/>
                <a:cs typeface="Courier New"/>
              </a:rPr>
              <a:t> aluno){</a:t>
            </a:r>
            <a:endParaRPr lang="pt-BR" sz="1725" dirty="0">
              <a:latin typeface="Courier New"/>
              <a:cs typeface="Courier New"/>
            </a:endParaRPr>
          </a:p>
          <a:p>
            <a:pPr marL="531922" marR="4610" indent="-520972">
              <a:lnSpc>
                <a:spcPct val="105300"/>
              </a:lnSpc>
              <a:spcBef>
                <a:spcPts val="91"/>
              </a:spcBef>
            </a:pPr>
            <a:r>
              <a:rPr sz="1725" spc="-9" dirty="0">
                <a:latin typeface="Courier New"/>
                <a:cs typeface="Courier New"/>
              </a:rPr>
              <a:t> arrayNomes.push(aluno.nome);</a:t>
            </a:r>
            <a:endParaRPr sz="1725" dirty="0">
              <a:latin typeface="Courier New"/>
              <a:cs typeface="Courier New"/>
            </a:endParaRPr>
          </a:p>
          <a:p>
            <a:pPr marL="531922">
              <a:spcBef>
                <a:spcPts val="109"/>
              </a:spcBef>
            </a:pPr>
            <a:r>
              <a:rPr sz="1634" dirty="0">
                <a:solidFill>
                  <a:srgbClr val="7C0054"/>
                </a:solidFill>
                <a:latin typeface="Courier New"/>
                <a:cs typeface="Courier New"/>
              </a:rPr>
              <a:t>return</a:t>
            </a:r>
            <a:r>
              <a:rPr sz="1634" spc="-32" dirty="0">
                <a:solidFill>
                  <a:srgbClr val="7C0054"/>
                </a:solidFill>
                <a:latin typeface="Courier New"/>
                <a:cs typeface="Courier New"/>
              </a:rPr>
              <a:t> </a:t>
            </a:r>
            <a:r>
              <a:rPr sz="1725" spc="-9" dirty="0">
                <a:latin typeface="Courier New"/>
                <a:cs typeface="Courier New"/>
              </a:rPr>
              <a:t>arrayNomes;</a:t>
            </a:r>
            <a:endParaRPr sz="1725" dirty="0">
              <a:latin typeface="Courier New"/>
              <a:cs typeface="Courier New"/>
            </a:endParaRPr>
          </a:p>
          <a:p>
            <a:pPr marL="11526">
              <a:spcBef>
                <a:spcPts val="109"/>
              </a:spcBef>
            </a:pPr>
            <a:r>
              <a:rPr sz="1725" dirty="0">
                <a:latin typeface="Courier New"/>
                <a:cs typeface="Courier New"/>
              </a:rPr>
              <a:t>},</a:t>
            </a:r>
            <a:r>
              <a:rPr sz="1725" spc="-36" dirty="0">
                <a:latin typeface="Courier New"/>
                <a:cs typeface="Courier New"/>
              </a:rPr>
              <a:t> </a:t>
            </a:r>
            <a:r>
              <a:rPr sz="1725" spc="-19" dirty="0">
                <a:solidFill>
                  <a:srgbClr val="FF0000"/>
                </a:solidFill>
                <a:latin typeface="Courier New"/>
                <a:cs typeface="Courier New"/>
              </a:rPr>
              <a:t>[]</a:t>
            </a:r>
            <a:r>
              <a:rPr sz="1725" spc="-19" dirty="0">
                <a:latin typeface="Courier New"/>
                <a:cs typeface="Courier New"/>
              </a:rPr>
              <a:t>);</a:t>
            </a:r>
            <a:r>
              <a:rPr lang="pt-BR" sz="1864" dirty="0">
                <a:solidFill>
                  <a:srgbClr val="3D7C5E"/>
                </a:solidFill>
                <a:latin typeface="Courier New"/>
                <a:cs typeface="Courier New"/>
              </a:rPr>
              <a:t> //valor inicial vetor vazio</a:t>
            </a:r>
            <a:endParaRPr lang="pt-BR" sz="1725" dirty="0">
              <a:latin typeface="Courier New"/>
              <a:cs typeface="Courier New"/>
            </a:endParaRPr>
          </a:p>
          <a:p>
            <a:pPr marL="11526">
              <a:spcBef>
                <a:spcPts val="304"/>
              </a:spcBef>
            </a:pPr>
            <a:r>
              <a:rPr lang="pt-BR" sz="1725" spc="-9" dirty="0">
                <a:latin typeface="Courier New"/>
                <a:cs typeface="Courier New"/>
              </a:rPr>
              <a:t>console.log(nomes);</a:t>
            </a:r>
            <a:r>
              <a:rPr lang="pt-BR" sz="1725" spc="-136" dirty="0">
                <a:latin typeface="Courier New"/>
                <a:cs typeface="Courier New"/>
              </a:rPr>
              <a:t> </a:t>
            </a:r>
            <a:r>
              <a:rPr lang="pt-BR" sz="1270" dirty="0">
                <a:solidFill>
                  <a:srgbClr val="3D7C5E"/>
                </a:solidFill>
                <a:latin typeface="Courier New"/>
                <a:cs typeface="Courier New"/>
              </a:rPr>
              <a:t>//</a:t>
            </a:r>
            <a:r>
              <a:rPr lang="pt-BR" sz="1270" spc="-113" dirty="0">
                <a:solidFill>
                  <a:srgbClr val="3D7C5E"/>
                </a:solidFill>
                <a:latin typeface="Courier New"/>
                <a:cs typeface="Courier New"/>
              </a:rPr>
              <a:t> </a:t>
            </a:r>
            <a:r>
              <a:rPr lang="pt-BR" sz="1270" dirty="0">
                <a:solidFill>
                  <a:srgbClr val="3D7C5E"/>
                </a:solidFill>
                <a:latin typeface="Courier New"/>
                <a:cs typeface="Courier New"/>
              </a:rPr>
              <a:t>[‘joão’,</a:t>
            </a:r>
            <a:r>
              <a:rPr lang="pt-BR" sz="1270" spc="-109" dirty="0">
                <a:solidFill>
                  <a:srgbClr val="3D7C5E"/>
                </a:solidFill>
                <a:latin typeface="Courier New"/>
                <a:cs typeface="Courier New"/>
              </a:rPr>
              <a:t> </a:t>
            </a:r>
            <a:r>
              <a:rPr lang="pt-BR" sz="1270" dirty="0">
                <a:solidFill>
                  <a:srgbClr val="3D7C5E"/>
                </a:solidFill>
                <a:latin typeface="Courier New"/>
                <a:cs typeface="Courier New"/>
              </a:rPr>
              <a:t>‘josé’,</a:t>
            </a:r>
            <a:r>
              <a:rPr lang="pt-BR" sz="1270" spc="-109" dirty="0">
                <a:solidFill>
                  <a:srgbClr val="3D7C5E"/>
                </a:solidFill>
                <a:latin typeface="Courier New"/>
                <a:cs typeface="Courier New"/>
              </a:rPr>
              <a:t> </a:t>
            </a:r>
            <a:r>
              <a:rPr lang="pt-BR" sz="1270" spc="-9" dirty="0">
                <a:solidFill>
                  <a:srgbClr val="3D7C5E"/>
                </a:solidFill>
                <a:latin typeface="Courier New"/>
                <a:cs typeface="Courier New"/>
              </a:rPr>
              <a:t>‘maria’]</a:t>
            </a:r>
            <a:endParaRPr lang="pt-BR" sz="1270" dirty="0">
              <a:latin typeface="Courier New"/>
              <a:cs typeface="Courier New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B3BE8B-E1A4-99AC-DE7A-872FAF1F97A8}"/>
              </a:ext>
            </a:extLst>
          </p:cNvPr>
          <p:cNvCxnSpPr/>
          <p:nvPr/>
        </p:nvCxnSpPr>
        <p:spPr>
          <a:xfrm flipV="1">
            <a:off x="7009273" y="2211304"/>
            <a:ext cx="710323" cy="137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E369DA-6E03-0939-92A4-5A4818AD44B3}"/>
              </a:ext>
            </a:extLst>
          </p:cNvPr>
          <p:cNvSpPr txBox="1"/>
          <p:nvPr/>
        </p:nvSpPr>
        <p:spPr>
          <a:xfrm>
            <a:off x="7618121" y="1298031"/>
            <a:ext cx="2435393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97" dirty="0"/>
              <a:t>Função callback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9E5AC6D-8AC0-B1B1-4DD5-8C4A49E0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7306" y="4859446"/>
            <a:ext cx="3756854" cy="155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770" tIns="60885" rIns="121770" bIns="60885" numCol="1" anchor="ctr" anchorCtr="0" compatLnSpc="1">
            <a:prstTxWarp prst="textNoShape">
              <a:avLst/>
            </a:prstTxWarp>
            <a:spAutoFit/>
          </a:bodyPr>
          <a:lstStyle/>
          <a:p>
            <a:pPr defTabSz="1217706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64" dirty="0">
                <a:solidFill>
                  <a:srgbClr val="FF0000"/>
                </a:solidFill>
                <a:latin typeface="Arial Unicode MS"/>
              </a:rPr>
              <a:t>arrayNomes</a:t>
            </a:r>
            <a:r>
              <a:rPr lang="pt-BR" altLang="pt-BR" sz="1864" dirty="0"/>
              <a:t>: é o acumulador (inicialmente um array vazio).</a:t>
            </a:r>
          </a:p>
          <a:p>
            <a:pPr defTabSz="1217706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64" dirty="0">
              <a:latin typeface="Arial" panose="020B0604020202020204" pitchFamily="34" charset="0"/>
            </a:endParaRPr>
          </a:p>
          <a:p>
            <a:pPr defTabSz="1217706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64" dirty="0">
                <a:solidFill>
                  <a:srgbClr val="FF0000"/>
                </a:solidFill>
                <a:latin typeface="Arial Unicode MS"/>
              </a:rPr>
              <a:t>aluno</a:t>
            </a:r>
            <a:r>
              <a:rPr lang="pt-BR" altLang="pt-BR" sz="1864" dirty="0"/>
              <a:t>: é o elemento atual do array </a:t>
            </a:r>
            <a:r>
              <a:rPr lang="pt-BR" altLang="pt-BR" sz="1864" dirty="0">
                <a:latin typeface="Arial Unicode MS"/>
              </a:rPr>
              <a:t>alunos</a:t>
            </a:r>
            <a:r>
              <a:rPr lang="pt-BR" altLang="pt-BR" sz="1864" dirty="0"/>
              <a:t>.</a:t>
            </a:r>
            <a:endParaRPr lang="pt-BR" altLang="pt-BR" sz="1864" dirty="0">
              <a:latin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BDF027-E93C-1E08-A9C3-940DEA88784D}"/>
              </a:ext>
            </a:extLst>
          </p:cNvPr>
          <p:cNvCxnSpPr/>
          <p:nvPr/>
        </p:nvCxnSpPr>
        <p:spPr>
          <a:xfrm>
            <a:off x="7313697" y="3878283"/>
            <a:ext cx="842541" cy="1072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7FCB82-1865-D80B-1FF3-F6026D75D54E}"/>
              </a:ext>
            </a:extLst>
          </p:cNvPr>
          <p:cNvCxnSpPr>
            <a:cxnSpLocks/>
          </p:cNvCxnSpPr>
          <p:nvPr/>
        </p:nvCxnSpPr>
        <p:spPr>
          <a:xfrm flipH="1">
            <a:off x="7889512" y="3843745"/>
            <a:ext cx="294888" cy="1986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572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4921" y="166945"/>
            <a:ext cx="7095620" cy="630387"/>
          </a:xfrm>
          <a:prstGeom prst="rect">
            <a:avLst/>
          </a:prstGeom>
        </p:spPr>
        <p:txBody>
          <a:bodyPr vert="horz" wrap="square" lIns="0" tIns="16912" rIns="0" bIns="0" rtlCol="0" anchor="t">
            <a:spAutoFit/>
          </a:bodyPr>
          <a:lstStyle/>
          <a:p>
            <a:pPr marL="16913">
              <a:spcBef>
                <a:spcPts val="133"/>
              </a:spcBef>
            </a:pPr>
            <a:r>
              <a:rPr lang="pt-BR" spc="-7" dirty="0"/>
              <a:t>Exemplo com vários juntos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60024" y="780139"/>
            <a:ext cx="10500277" cy="7148773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6912" rIns="0" bIns="0" rtlCol="0" anchor="t">
            <a:spAutoFit/>
          </a:bodyPr>
          <a:lstStyle/>
          <a:p>
            <a:r>
              <a:rPr lang="en-US" sz="4794" spc="-20" dirty="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dirty="0" err="1">
                <a:solidFill>
                  <a:srgbClr val="4FC1FF"/>
                </a:solidFill>
                <a:ea typeface="+mn-lt"/>
                <a:cs typeface="+mn-lt"/>
              </a:rPr>
              <a:t>valores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= [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10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20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30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40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];</a:t>
            </a:r>
            <a:endParaRPr lang="en-US" sz="4794" dirty="0">
              <a:ea typeface="Calibri"/>
              <a:cs typeface="Calibri"/>
            </a:endParaRPr>
          </a:p>
          <a:p>
            <a:r>
              <a:rPr lang="en-US" sz="4794" spc="-20" dirty="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err="1">
                <a:solidFill>
                  <a:srgbClr val="4FC1FF"/>
                </a:solidFill>
                <a:ea typeface="+mn-lt"/>
                <a:cs typeface="+mn-lt"/>
              </a:rPr>
              <a:t>resultado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= </a:t>
            </a:r>
            <a:endParaRPr lang="en-US" sz="4794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4794" spc="-20" dirty="0" err="1">
                <a:solidFill>
                  <a:srgbClr val="4FC1FF"/>
                </a:solidFill>
                <a:ea typeface="+mn-lt"/>
                <a:cs typeface="+mn-lt"/>
              </a:rPr>
              <a:t>valores</a:t>
            </a:r>
            <a:endParaRPr lang="en-US" sz="4794" dirty="0" err="1">
              <a:ea typeface="Calibri"/>
              <a:cs typeface="Calibri"/>
            </a:endParaRPr>
          </a:p>
          <a:p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.</a:t>
            </a:r>
            <a:r>
              <a:rPr lang="en-US" sz="4794" spc="-20" dirty="0">
                <a:solidFill>
                  <a:srgbClr val="DCDCAA"/>
                </a:solidFill>
                <a:ea typeface="+mn-lt"/>
                <a:cs typeface="+mn-lt"/>
              </a:rPr>
              <a:t>filter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(</a:t>
            </a:r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v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dirty="0">
                <a:solidFill>
                  <a:srgbClr val="569CD6"/>
                </a:solidFill>
                <a:ea typeface="+mn-lt"/>
                <a:cs typeface="+mn-lt"/>
              </a:rPr>
              <a:t>=&gt;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v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&gt;= 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20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)</a:t>
            </a:r>
            <a:endParaRPr lang="en-US" sz="4794">
              <a:ea typeface="Calibri"/>
              <a:cs typeface="Calibri"/>
            </a:endParaRPr>
          </a:p>
          <a:p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.</a:t>
            </a:r>
            <a:r>
              <a:rPr lang="en-US" sz="4794" spc="-20" dirty="0">
                <a:solidFill>
                  <a:srgbClr val="DCDCAA"/>
                </a:solidFill>
                <a:ea typeface="+mn-lt"/>
                <a:cs typeface="+mn-lt"/>
              </a:rPr>
              <a:t>map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(</a:t>
            </a:r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v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dirty="0">
                <a:solidFill>
                  <a:srgbClr val="569CD6"/>
                </a:solidFill>
                <a:ea typeface="+mn-lt"/>
                <a:cs typeface="+mn-lt"/>
              </a:rPr>
              <a:t>=&gt;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v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/ 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2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)</a:t>
            </a:r>
            <a:endParaRPr lang="en-US" sz="4794">
              <a:ea typeface="Calibri"/>
              <a:cs typeface="Calibri"/>
            </a:endParaRPr>
          </a:p>
          <a:p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.</a:t>
            </a:r>
            <a:r>
              <a:rPr lang="en-US" sz="4794" spc="-20" dirty="0">
                <a:solidFill>
                  <a:srgbClr val="DCDCAA"/>
                </a:solidFill>
                <a:ea typeface="+mn-lt"/>
                <a:cs typeface="+mn-lt"/>
              </a:rPr>
              <a:t>reduce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((</a:t>
            </a:r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soma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4794" spc="-20" err="1">
                <a:solidFill>
                  <a:srgbClr val="9CDCFE"/>
                </a:solidFill>
                <a:ea typeface="+mn-lt"/>
                <a:cs typeface="+mn-lt"/>
              </a:rPr>
              <a:t>atual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) </a:t>
            </a:r>
            <a:r>
              <a:rPr lang="en-US" sz="4794" spc="-20" dirty="0">
                <a:solidFill>
                  <a:srgbClr val="569CD6"/>
                </a:solidFill>
                <a:ea typeface="+mn-lt"/>
                <a:cs typeface="+mn-lt"/>
              </a:rPr>
              <a:t>=&gt;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soma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 + </a:t>
            </a:r>
            <a:r>
              <a:rPr lang="en-US" sz="4794" spc="-20" err="1">
                <a:solidFill>
                  <a:srgbClr val="9CDCFE"/>
                </a:solidFill>
                <a:ea typeface="+mn-lt"/>
                <a:cs typeface="+mn-lt"/>
              </a:rPr>
              <a:t>atual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4794" spc="-20" dirty="0">
                <a:solidFill>
                  <a:srgbClr val="B5CEA8"/>
                </a:solidFill>
                <a:ea typeface="+mn-lt"/>
                <a:cs typeface="+mn-lt"/>
              </a:rPr>
              <a:t>0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 sz="4794">
              <a:ea typeface="Calibri"/>
              <a:cs typeface="Calibri"/>
            </a:endParaRPr>
          </a:p>
          <a:p>
            <a:r>
              <a:rPr lang="en-US" sz="4794" spc="-20" dirty="0">
                <a:solidFill>
                  <a:srgbClr val="9CDCFE"/>
                </a:solidFill>
                <a:ea typeface="+mn-lt"/>
                <a:cs typeface="+mn-lt"/>
              </a:rPr>
              <a:t>console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.</a:t>
            </a:r>
            <a:r>
              <a:rPr lang="en-US" sz="4794" spc="-20" dirty="0">
                <a:solidFill>
                  <a:srgbClr val="DCDCAA"/>
                </a:solidFill>
                <a:ea typeface="+mn-lt"/>
                <a:cs typeface="+mn-lt"/>
              </a:rPr>
              <a:t>log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(</a:t>
            </a:r>
            <a:r>
              <a:rPr lang="en-US" sz="4794" spc="-20" err="1">
                <a:solidFill>
                  <a:srgbClr val="4FC1FF"/>
                </a:solidFill>
                <a:ea typeface="+mn-lt"/>
                <a:cs typeface="+mn-lt"/>
              </a:rPr>
              <a:t>resultado</a:t>
            </a:r>
            <a:r>
              <a:rPr lang="en-US" sz="4794" spc="-20" dirty="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 sz="4794">
              <a:ea typeface="Calibri"/>
              <a:cs typeface="Calibri"/>
            </a:endParaRPr>
          </a:p>
          <a:p>
            <a:br>
              <a:rPr lang="en-US" sz="2397" dirty="0"/>
            </a:br>
            <a:endParaRPr lang="en-US" sz="2397" dirty="0"/>
          </a:p>
          <a:p>
            <a:endParaRPr lang="en-US" sz="3196" spc="-20" dirty="0">
              <a:solidFill>
                <a:srgbClr val="67005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416" y="190647"/>
            <a:ext cx="9638306" cy="694186"/>
          </a:xfrm>
          <a:prstGeom prst="rect">
            <a:avLst/>
          </a:prstGeom>
        </p:spPr>
        <p:txBody>
          <a:bodyPr vert="horz" wrap="square" lIns="0" tIns="16912" rIns="0" bIns="0" rtlCol="0" anchor="ctr">
            <a:spAutoFit/>
          </a:bodyPr>
          <a:lstStyle/>
          <a:p>
            <a:pPr marL="16913">
              <a:lnSpc>
                <a:spcPct val="100000"/>
              </a:lnSpc>
              <a:spcBef>
                <a:spcPts val="133"/>
              </a:spcBef>
            </a:pPr>
            <a:r>
              <a:rPr lang="en-US" spc="-7" dirty="0" err="1"/>
              <a:t>Exercício</a:t>
            </a:r>
            <a:r>
              <a:rPr lang="en-US" spc="-7" dirty="0"/>
              <a:t> 1</a:t>
            </a:r>
            <a:endParaRPr spc="-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4B2C6-58B8-3E26-97C1-A8DA74C5E0AB}"/>
              </a:ext>
            </a:extLst>
          </p:cNvPr>
          <p:cNvSpPr txBox="1"/>
          <p:nvPr/>
        </p:nvSpPr>
        <p:spPr>
          <a:xfrm>
            <a:off x="210466" y="993607"/>
            <a:ext cx="11974017" cy="5991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397" dirty="0"/>
              <a:t>Crie uma aplicação web que permita ao usuário inserir o </a:t>
            </a:r>
            <a:r>
              <a:rPr lang="pt-BR" sz="2397" b="1" dirty="0"/>
              <a:t>preço à vista</a:t>
            </a:r>
            <a:r>
              <a:rPr lang="pt-BR" sz="2397" dirty="0"/>
              <a:t> de um produto e escolher o número de parcelas para pagamento. Através de um </a:t>
            </a:r>
            <a:r>
              <a:rPr lang="pt-BR" sz="2397" b="1" dirty="0"/>
              <a:t>formulário HTML</a:t>
            </a:r>
            <a:r>
              <a:rPr lang="pt-BR" sz="2397" dirty="0"/>
              <a:t>, o sistema deve calcular e exibir na tela o </a:t>
            </a:r>
            <a:r>
              <a:rPr lang="pt-BR" sz="2397" b="1" dirty="0"/>
              <a:t>preço total a pagar</a:t>
            </a:r>
            <a:r>
              <a:rPr lang="pt-BR" sz="2397" dirty="0"/>
              <a:t> com acréscimos (caso existam) e o </a:t>
            </a:r>
            <a:r>
              <a:rPr lang="pt-BR" sz="2397" b="1" dirty="0"/>
              <a:t>valor de cada prestação mensal (</a:t>
            </a:r>
            <a:r>
              <a:rPr lang="pt-BR" sz="2397" dirty="0"/>
              <a:t>sem apagar o conteúdo que já existe na tela ).</a:t>
            </a:r>
          </a:p>
          <a:p>
            <a:r>
              <a:rPr lang="pt-BR" sz="2397" dirty="0"/>
              <a:t>As regras para o cálculo são: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397" dirty="0"/>
              <a:t>Se o pagamento for à vista (1 parcela), </a:t>
            </a:r>
            <a:r>
              <a:rPr lang="pt-BR" sz="2397" b="1" dirty="0"/>
              <a:t>não há acréscimo</a:t>
            </a:r>
            <a:r>
              <a:rPr lang="pt-BR" sz="2397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397" dirty="0"/>
              <a:t>Se o pagamento for parcelado em </a:t>
            </a:r>
            <a:r>
              <a:rPr lang="pt-BR" sz="2397" b="1" dirty="0"/>
              <a:t>3 vezes</a:t>
            </a:r>
            <a:r>
              <a:rPr lang="pt-BR" sz="2397" dirty="0"/>
              <a:t>, deve ser aplicado um </a:t>
            </a:r>
            <a:r>
              <a:rPr lang="pt-BR" sz="2397" b="1" dirty="0"/>
              <a:t>acréscimo de 10%</a:t>
            </a:r>
            <a:r>
              <a:rPr lang="pt-BR" sz="2397" dirty="0"/>
              <a:t> sobre o valor à vista.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397" dirty="0"/>
              <a:t>Se o pagamento for parcelado em </a:t>
            </a:r>
            <a:r>
              <a:rPr lang="pt-BR" sz="2397" b="1" dirty="0"/>
              <a:t>5 vezes</a:t>
            </a:r>
            <a:r>
              <a:rPr lang="pt-BR" sz="2397" dirty="0"/>
              <a:t>, deve ser aplicado um </a:t>
            </a:r>
            <a:r>
              <a:rPr lang="pt-BR" sz="2397" b="1" dirty="0"/>
              <a:t>acréscimo de 20%</a:t>
            </a:r>
            <a:r>
              <a:rPr lang="pt-BR" sz="2397" dirty="0"/>
              <a:t> sobre o valor à vista.</a:t>
            </a:r>
          </a:p>
          <a:p>
            <a:r>
              <a:rPr lang="pt-BR" sz="2397" dirty="0"/>
              <a:t>O sistema deve: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397" dirty="0"/>
              <a:t>Receber os dados por meio de um formulário.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397" dirty="0"/>
              <a:t>Calcular automaticamente o total e o valor das parcelas conforme a escolha do usuário.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397" dirty="0"/>
              <a:t>Exibir os resultados diretamente na tela.</a:t>
            </a:r>
          </a:p>
          <a:p>
            <a:pPr marL="456640" indent="-456640">
              <a:lnSpc>
                <a:spcPct val="107000"/>
              </a:lnSpc>
              <a:buSzPts val="1200"/>
              <a:buFont typeface="Arial" panose="020B0604020202020204" pitchFamily="34" charset="0"/>
              <a:buAutoNum type="arabicPeriod"/>
            </a:pPr>
            <a:endParaRPr lang="en-US" sz="2397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556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416" y="190647"/>
            <a:ext cx="9638306" cy="694186"/>
          </a:xfrm>
          <a:prstGeom prst="rect">
            <a:avLst/>
          </a:prstGeom>
        </p:spPr>
        <p:txBody>
          <a:bodyPr vert="horz" wrap="square" lIns="0" tIns="16912" rIns="0" bIns="0" rtlCol="0" anchor="ctr">
            <a:spAutoFit/>
          </a:bodyPr>
          <a:lstStyle/>
          <a:p>
            <a:pPr marL="16913">
              <a:lnSpc>
                <a:spcPct val="100000"/>
              </a:lnSpc>
              <a:spcBef>
                <a:spcPts val="133"/>
              </a:spcBef>
            </a:pPr>
            <a:r>
              <a:rPr lang="en-US" spc="-7" dirty="0" err="1"/>
              <a:t>Exercício</a:t>
            </a:r>
            <a:r>
              <a:rPr lang="en-US" spc="-7" dirty="0"/>
              <a:t> 2</a:t>
            </a:r>
            <a:endParaRPr spc="-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4B2C6-58B8-3E26-97C1-A8DA74C5E0AB}"/>
              </a:ext>
            </a:extLst>
          </p:cNvPr>
          <p:cNvSpPr txBox="1"/>
          <p:nvPr/>
        </p:nvSpPr>
        <p:spPr>
          <a:xfrm>
            <a:off x="210466" y="993608"/>
            <a:ext cx="11974017" cy="599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131" dirty="0"/>
              <a:t>Crie uma aplicação web que permita ao usuário digitar </a:t>
            </a:r>
            <a:r>
              <a:rPr lang="pt-BR" sz="2131" b="1" dirty="0"/>
              <a:t>dois números reais</a:t>
            </a:r>
            <a:r>
              <a:rPr lang="pt-BR" sz="2131" dirty="0"/>
              <a:t> e escolher uma </a:t>
            </a:r>
            <a:r>
              <a:rPr lang="pt-BR" sz="2131" b="1" dirty="0"/>
              <a:t>operação matemática</a:t>
            </a:r>
            <a:r>
              <a:rPr lang="pt-BR" sz="2131" dirty="0"/>
              <a:t> entre eles: </a:t>
            </a:r>
            <a:r>
              <a:rPr lang="pt-BR" sz="2131" b="1" dirty="0"/>
              <a:t>adição, subtração, multiplicação ou divisão</a:t>
            </a:r>
            <a:r>
              <a:rPr lang="pt-BR" sz="2131" dirty="0"/>
              <a:t>. A escolha da operação deve ser feita por meio de um campo de seleção (como um menu suspenso).</a:t>
            </a:r>
          </a:p>
          <a:p>
            <a:r>
              <a:rPr lang="pt-BR" sz="2131" dirty="0"/>
              <a:t>A aplicação deve: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131" dirty="0"/>
              <a:t>Receber os dois números e a operação desejada via formulário;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131" dirty="0"/>
              <a:t>Realizar o cálculo correspondente;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131" dirty="0"/>
              <a:t>Exibir o resultado na tela.</a:t>
            </a:r>
          </a:p>
          <a:p>
            <a:r>
              <a:rPr lang="pt-BR" sz="2131" b="1" dirty="0"/>
              <a:t>Regras: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131" dirty="0"/>
              <a:t>Se a operação for </a:t>
            </a:r>
            <a:r>
              <a:rPr lang="pt-BR" sz="2131" b="1" dirty="0"/>
              <a:t>divisão</a:t>
            </a:r>
            <a:r>
              <a:rPr lang="pt-BR" sz="2131" dirty="0"/>
              <a:t> e o segundo número digitado for </a:t>
            </a:r>
            <a:r>
              <a:rPr lang="pt-BR" sz="2131" b="1" dirty="0"/>
              <a:t>zero</a:t>
            </a:r>
            <a:r>
              <a:rPr lang="pt-BR" sz="2131" dirty="0"/>
              <a:t>, o sistema </a:t>
            </a:r>
            <a:r>
              <a:rPr lang="pt-BR" sz="2131" b="1" dirty="0"/>
              <a:t>não deve executar a operação</a:t>
            </a:r>
            <a:r>
              <a:rPr lang="pt-BR" sz="213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131" dirty="0"/>
              <a:t>Nesse caso, deve-se exibir na tela uma </a:t>
            </a:r>
            <a:r>
              <a:rPr lang="pt-BR" sz="2131" b="1" dirty="0"/>
              <a:t>mensagem de erro amigável</a:t>
            </a:r>
            <a:r>
              <a:rPr lang="pt-BR" sz="2131" dirty="0"/>
              <a:t>, como: "Não é possível dividir por zero."</a:t>
            </a:r>
          </a:p>
          <a:p>
            <a:r>
              <a:rPr lang="pt-BR" sz="2131" b="1" dirty="0"/>
              <a:t> Requisitos: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131" dirty="0"/>
              <a:t>Utilize </a:t>
            </a:r>
            <a:r>
              <a:rPr lang="pt-BR" sz="2131" b="1" dirty="0"/>
              <a:t>tratamento de exceções (try/catch)</a:t>
            </a:r>
            <a:r>
              <a:rPr lang="pt-BR" sz="2131" dirty="0"/>
              <a:t> para capturar erros que possam ocorrer durante o cálculo, como:</a:t>
            </a:r>
          </a:p>
          <a:p>
            <a:pPr marL="989387" lvl="1" indent="-380533">
              <a:buFont typeface="Arial" panose="020B0604020202020204" pitchFamily="34" charset="0"/>
              <a:buChar char="•"/>
            </a:pPr>
            <a:r>
              <a:rPr lang="pt-BR" sz="2131" dirty="0"/>
              <a:t>Entrada de valores inválidos (ex: letras ou campos vazios).</a:t>
            </a:r>
          </a:p>
          <a:p>
            <a:pPr marL="989387" lvl="1" indent="-380533">
              <a:buFont typeface="Arial" panose="020B0604020202020204" pitchFamily="34" charset="0"/>
              <a:buChar char="•"/>
            </a:pPr>
            <a:r>
              <a:rPr lang="pt-BR" sz="2131" dirty="0"/>
              <a:t>Divisão por zero.</a:t>
            </a:r>
          </a:p>
          <a:p>
            <a:r>
              <a:rPr lang="pt-BR" sz="2131" dirty="0"/>
              <a:t>A aplicação deve ser </a:t>
            </a:r>
            <a:r>
              <a:rPr lang="pt-BR" sz="2131" b="1" dirty="0"/>
              <a:t>robusta</a:t>
            </a:r>
            <a:r>
              <a:rPr lang="pt-BR" sz="2131" dirty="0"/>
              <a:t>, </a:t>
            </a:r>
            <a:r>
              <a:rPr lang="pt-BR" sz="2131" b="1" dirty="0"/>
              <a:t>não travar</a:t>
            </a:r>
            <a:r>
              <a:rPr lang="pt-BR" sz="2131" dirty="0"/>
              <a:t> e sempre fornecer </a:t>
            </a:r>
            <a:r>
              <a:rPr lang="pt-BR" sz="2131" b="1" dirty="0"/>
              <a:t>feedback ao usuário</a:t>
            </a:r>
            <a:r>
              <a:rPr lang="pt-BR" sz="213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4941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60C8-EB09-4639-A3A4-ED5A3276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D922AF-13AB-6CE5-AB48-6D6F72AF1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35855" y="258976"/>
            <a:ext cx="7095620" cy="1371294"/>
          </a:xfrm>
          <a:prstGeom prst="rect">
            <a:avLst/>
          </a:prstGeom>
        </p:spPr>
        <p:txBody>
          <a:bodyPr vert="horz" wrap="square" lIns="0" tIns="16912" rIns="0" bIns="0" rtlCol="0" anchor="ctr">
            <a:spAutoFit/>
          </a:bodyPr>
          <a:lstStyle/>
          <a:p>
            <a:pPr marL="1691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MATERIAIS</a:t>
            </a:r>
            <a:r>
              <a:rPr spc="-93" dirty="0"/>
              <a:t> </a:t>
            </a:r>
            <a:r>
              <a:rPr spc="-7" dirty="0"/>
              <a:t>COMPLEMENTARES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C6030AB-E19A-E46F-3BC3-318AE6A3E313}"/>
              </a:ext>
            </a:extLst>
          </p:cNvPr>
          <p:cNvSpPr txBox="1"/>
          <p:nvPr/>
        </p:nvSpPr>
        <p:spPr>
          <a:xfrm>
            <a:off x="858330" y="2236075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D396DB-80BE-EDA5-DCE3-0A3B13163FDA}"/>
              </a:ext>
            </a:extLst>
          </p:cNvPr>
          <p:cNvSpPr txBox="1"/>
          <p:nvPr/>
        </p:nvSpPr>
        <p:spPr>
          <a:xfrm>
            <a:off x="858330" y="2723155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9CF408F-6B37-2FCF-65C0-EFD59836AC24}"/>
              </a:ext>
            </a:extLst>
          </p:cNvPr>
          <p:cNvSpPr txBox="1"/>
          <p:nvPr/>
        </p:nvSpPr>
        <p:spPr>
          <a:xfrm>
            <a:off x="858330" y="3210233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0CA44F-D808-893E-875C-93FB3953FC96}"/>
              </a:ext>
            </a:extLst>
          </p:cNvPr>
          <p:cNvSpPr txBox="1"/>
          <p:nvPr/>
        </p:nvSpPr>
        <p:spPr>
          <a:xfrm>
            <a:off x="858330" y="3697311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A151A2D-C80C-641E-E2BC-BE4C9912A02D}"/>
              </a:ext>
            </a:extLst>
          </p:cNvPr>
          <p:cNvSpPr txBox="1"/>
          <p:nvPr/>
        </p:nvSpPr>
        <p:spPr>
          <a:xfrm>
            <a:off x="858330" y="4184389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7C17A15-DDBB-A999-FF24-5640CDC5B432}"/>
              </a:ext>
            </a:extLst>
          </p:cNvPr>
          <p:cNvSpPr txBox="1"/>
          <p:nvPr/>
        </p:nvSpPr>
        <p:spPr>
          <a:xfrm>
            <a:off x="858330" y="4671468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A0B4D61-06D0-A5AF-AA2F-51E9172A1391}"/>
              </a:ext>
            </a:extLst>
          </p:cNvPr>
          <p:cNvSpPr txBox="1"/>
          <p:nvPr/>
        </p:nvSpPr>
        <p:spPr>
          <a:xfrm>
            <a:off x="858330" y="5158547"/>
            <a:ext cx="179272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27" dirty="0">
                <a:latin typeface="Lucida Sans Unicode"/>
                <a:cs typeface="Lucida Sans Unicode"/>
              </a:rPr>
              <a:t>●</a:t>
            </a:r>
            <a:endParaRPr sz="1398">
              <a:latin typeface="Lucida Sans Unicode"/>
              <a:cs typeface="Lucida Sans Unicod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FFEBCD2-3D4F-CFB8-9BFD-56365ACD44E8}"/>
              </a:ext>
            </a:extLst>
          </p:cNvPr>
          <p:cNvSpPr txBox="1"/>
          <p:nvPr/>
        </p:nvSpPr>
        <p:spPr>
          <a:xfrm>
            <a:off x="1296025" y="2131083"/>
            <a:ext cx="6396290" cy="3459686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 marR="1520442">
              <a:spcBef>
                <a:spcPts val="133"/>
              </a:spcBef>
            </a:pP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2"/>
              </a:rPr>
              <a:t>braziljs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2"/>
              </a:rPr>
              <a:t>- 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2"/>
              </a:rPr>
              <a:t>Eloquente </a:t>
            </a:r>
            <a:r>
              <a:rPr sz="3196" spc="-20" dirty="0">
                <a:solidFill>
                  <a:srgbClr val="670058"/>
                </a:solidFill>
                <a:latin typeface="Calibri"/>
                <a:cs typeface="Calibri"/>
                <a:hlinkClick r:id="rId2"/>
              </a:rPr>
              <a:t>JavaScript </a:t>
            </a:r>
            <a:r>
              <a:rPr sz="3196" spc="-706" dirty="0">
                <a:solidFill>
                  <a:srgbClr val="670058"/>
                </a:solidFill>
                <a:latin typeface="Calibri"/>
                <a:cs typeface="Calibri"/>
              </a:rPr>
              <a:t> </a:t>
            </a:r>
            <a:r>
              <a:rPr sz="3196" spc="-7" dirty="0">
                <a:solidFill>
                  <a:srgbClr val="670058"/>
                </a:solidFill>
                <a:latin typeface="Calibri"/>
                <a:cs typeface="Calibri"/>
                <a:hlinkClick r:id="rId3"/>
              </a:rPr>
              <a:t>MDN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3"/>
              </a:rPr>
              <a:t>-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3196" spc="-20" dirty="0">
                <a:solidFill>
                  <a:srgbClr val="670058"/>
                </a:solidFill>
                <a:latin typeface="Calibri"/>
                <a:cs typeface="Calibri"/>
                <a:hlinkClick r:id="rId3"/>
              </a:rPr>
              <a:t>Javascript</a:t>
            </a:r>
            <a:endParaRPr sz="3196">
              <a:latin typeface="Calibri"/>
              <a:cs typeface="Calibri"/>
            </a:endParaRPr>
          </a:p>
          <a:p>
            <a:pPr marL="16913"/>
            <a:r>
              <a:rPr sz="3196" spc="-7" dirty="0">
                <a:solidFill>
                  <a:srgbClr val="670058"/>
                </a:solidFill>
                <a:latin typeface="Calibri"/>
                <a:cs typeface="Calibri"/>
                <a:hlinkClick r:id="rId4"/>
              </a:rPr>
              <a:t>w3schools</a:t>
            </a:r>
            <a:r>
              <a:rPr sz="3196" spc="-33" dirty="0">
                <a:solidFill>
                  <a:srgbClr val="670058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4"/>
              </a:rPr>
              <a:t>-</a:t>
            </a:r>
            <a:r>
              <a:rPr sz="3196" spc="-33" dirty="0">
                <a:solidFill>
                  <a:srgbClr val="670058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3196" spc="-20" dirty="0">
                <a:solidFill>
                  <a:srgbClr val="670058"/>
                </a:solidFill>
                <a:latin typeface="Calibri"/>
                <a:cs typeface="Calibri"/>
                <a:hlinkClick r:id="rId4"/>
              </a:rPr>
              <a:t>Javascript </a:t>
            </a:r>
            <a:r>
              <a:rPr sz="3196" spc="-7" dirty="0">
                <a:solidFill>
                  <a:srgbClr val="670058"/>
                </a:solidFill>
                <a:latin typeface="Calibri"/>
                <a:cs typeface="Calibri"/>
                <a:hlinkClick r:id="rId4"/>
              </a:rPr>
              <a:t>(inglês)</a:t>
            </a:r>
            <a:endParaRPr sz="3196">
              <a:latin typeface="Calibri"/>
              <a:cs typeface="Calibri"/>
            </a:endParaRPr>
          </a:p>
          <a:p>
            <a:pPr marL="16913" marR="6765"/>
            <a:r>
              <a:rPr sz="3196" spc="-7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Khan 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Academy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- </a:t>
            </a:r>
            <a:r>
              <a:rPr sz="3196" spc="-40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Web </a:t>
            </a:r>
            <a:r>
              <a:rPr sz="3196" spc="-27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interativa 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com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5"/>
              </a:rPr>
              <a:t>JS </a:t>
            </a:r>
            <a:r>
              <a:rPr sz="3196" spc="-706" dirty="0">
                <a:solidFill>
                  <a:srgbClr val="670058"/>
                </a:solidFill>
                <a:latin typeface="Calibri"/>
                <a:cs typeface="Calibri"/>
              </a:rPr>
              <a:t> </a:t>
            </a:r>
            <a:r>
              <a:rPr sz="3196" spc="-27" dirty="0">
                <a:solidFill>
                  <a:srgbClr val="670058"/>
                </a:solidFill>
                <a:latin typeface="Calibri"/>
                <a:cs typeface="Calibri"/>
                <a:hlinkClick r:id="rId6"/>
              </a:rPr>
              <a:t>RocketSeat</a:t>
            </a:r>
            <a:r>
              <a:rPr sz="3196" spc="-7" dirty="0">
                <a:solidFill>
                  <a:srgbClr val="670058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6"/>
              </a:rPr>
              <a:t>-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3196" spc="-20" dirty="0">
                <a:solidFill>
                  <a:srgbClr val="670058"/>
                </a:solidFill>
                <a:latin typeface="Calibri"/>
                <a:cs typeface="Calibri"/>
                <a:hlinkClick r:id="rId6"/>
              </a:rPr>
              <a:t>Javascript</a:t>
            </a:r>
            <a:endParaRPr sz="3196">
              <a:latin typeface="Calibri"/>
              <a:cs typeface="Calibri"/>
            </a:endParaRPr>
          </a:p>
          <a:p>
            <a:pPr marL="16913" marR="895522"/>
            <a:r>
              <a:rPr sz="3196" spc="-7" dirty="0">
                <a:solidFill>
                  <a:srgbClr val="670058"/>
                </a:solidFill>
                <a:latin typeface="Calibri"/>
                <a:cs typeface="Calibri"/>
                <a:hlinkClick r:id="rId7"/>
              </a:rPr>
              <a:t>Caelum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7"/>
              </a:rPr>
              <a:t>– JS e </a:t>
            </a:r>
            <a:r>
              <a:rPr sz="3196" spc="-20" dirty="0">
                <a:solidFill>
                  <a:srgbClr val="670058"/>
                </a:solidFill>
                <a:latin typeface="Calibri"/>
                <a:cs typeface="Calibri"/>
                <a:hlinkClick r:id="rId7"/>
              </a:rPr>
              <a:t>interatividade </a:t>
            </a:r>
            <a:r>
              <a:rPr sz="3196" spc="-40" dirty="0">
                <a:solidFill>
                  <a:srgbClr val="670058"/>
                </a:solidFill>
                <a:latin typeface="Calibri"/>
                <a:cs typeface="Calibri"/>
                <a:hlinkClick r:id="rId7"/>
              </a:rPr>
              <a:t>Web </a:t>
            </a:r>
            <a:r>
              <a:rPr sz="3196" spc="-706" dirty="0">
                <a:solidFill>
                  <a:srgbClr val="670058"/>
                </a:solidFill>
                <a:latin typeface="Calibri"/>
                <a:cs typeface="Calibri"/>
              </a:rPr>
              <a:t> </a:t>
            </a:r>
            <a:r>
              <a:rPr sz="3196" dirty="0">
                <a:solidFill>
                  <a:srgbClr val="670058"/>
                </a:solidFill>
                <a:latin typeface="Calibri"/>
                <a:cs typeface="Calibri"/>
                <a:hlinkClick r:id="rId8"/>
              </a:rPr>
              <a:t>JS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8"/>
              </a:rPr>
              <a:t> best</a:t>
            </a:r>
            <a:r>
              <a:rPr sz="3196" spc="-20" dirty="0">
                <a:solidFill>
                  <a:srgbClr val="670058"/>
                </a:solidFill>
                <a:latin typeface="Calibri"/>
                <a:cs typeface="Calibri"/>
                <a:hlinkClick r:id="rId8"/>
              </a:rPr>
              <a:t> 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8"/>
              </a:rPr>
              <a:t>practices </a:t>
            </a:r>
            <a:r>
              <a:rPr sz="3196" spc="-33" dirty="0">
                <a:solidFill>
                  <a:srgbClr val="670058"/>
                </a:solidFill>
                <a:latin typeface="Calibri"/>
                <a:cs typeface="Calibri"/>
                <a:hlinkClick r:id="rId8"/>
              </a:rPr>
              <a:t>for</a:t>
            </a:r>
            <a:r>
              <a:rPr sz="3196" spc="-13" dirty="0">
                <a:solidFill>
                  <a:srgbClr val="670058"/>
                </a:solidFill>
                <a:latin typeface="Calibri"/>
                <a:cs typeface="Calibri"/>
                <a:hlinkClick r:id="rId8"/>
              </a:rPr>
              <a:t> beginners</a:t>
            </a:r>
            <a:endParaRPr sz="3196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3683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2131</Words>
  <Application>Microsoft Office PowerPoint</Application>
  <PresentationFormat>Widescreen</PresentationFormat>
  <Paragraphs>293</Paragraphs>
  <Slides>23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5" baseType="lpstr">
      <vt:lpstr>Aptos</vt:lpstr>
      <vt:lpstr>Aptos Display</vt:lpstr>
      <vt:lpstr>Arial</vt:lpstr>
      <vt:lpstr>Arial MT</vt:lpstr>
      <vt:lpstr>Arial Unicode MS</vt:lpstr>
      <vt:lpstr>Calibri</vt:lpstr>
      <vt:lpstr>Consolas</vt:lpstr>
      <vt:lpstr>Courier New</vt:lpstr>
      <vt:lpstr>DeepSeek-CJK-patch</vt:lpstr>
      <vt:lpstr>Lucida Sans Unicode</vt:lpstr>
      <vt:lpstr>Tahoma</vt:lpstr>
      <vt:lpstr>Tema do Office</vt:lpstr>
      <vt:lpstr>Javascript Introdução</vt:lpstr>
      <vt:lpstr>Forma tradicional de iterar um array</vt:lpstr>
      <vt:lpstr>forEach</vt:lpstr>
      <vt:lpstr>Map</vt:lpstr>
      <vt:lpstr>Map</vt:lpstr>
      <vt:lpstr>Filter</vt:lpstr>
      <vt:lpstr>Filter</vt:lpstr>
      <vt:lpstr>Filter</vt:lpstr>
      <vt:lpstr>Find</vt:lpstr>
      <vt:lpstr>Find</vt:lpstr>
      <vt:lpstr>Find</vt:lpstr>
      <vt:lpstr>Every</vt:lpstr>
      <vt:lpstr>Every</vt:lpstr>
      <vt:lpstr>Every</vt:lpstr>
      <vt:lpstr>Some</vt:lpstr>
      <vt:lpstr>Some</vt:lpstr>
      <vt:lpstr>Reduce</vt:lpstr>
      <vt:lpstr>Exemplo reduce com arrow function</vt:lpstr>
      <vt:lpstr>Reduce</vt:lpstr>
      <vt:lpstr>Exemplo com vários juntos</vt:lpstr>
      <vt:lpstr>Exercício 1</vt:lpstr>
      <vt:lpstr>Exercício 2</vt:lpstr>
      <vt:lpstr>MATERIAIS COMPLEMENTARES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Camargo</dc:creator>
  <cp:lastModifiedBy>Camargo</cp:lastModifiedBy>
  <cp:revision>1</cp:revision>
  <dcterms:created xsi:type="dcterms:W3CDTF">2026-10-29T13:38:10Z</dcterms:created>
  <dcterms:modified xsi:type="dcterms:W3CDTF">2026-10-29T13:38:22Z</dcterms:modified>
</cp:coreProperties>
</file>